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Platypi Medium" panose="020B0604020202020204" charset="0"/>
      <p:regular r:id="rId13"/>
    </p:embeddedFont>
    <p:embeddedFont>
      <p:font typeface="Source Serif 4" panose="020B0604020202020204" charset="0"/>
      <p:regular r:id="rId14"/>
    </p:embeddedFont>
    <p:embeddedFont>
      <p:font typeface="Source Serif 4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964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F0"/>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205805"/>
            <a:ext cx="6296860" cy="2953246"/>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01B18"/>
                </a:solidFill>
                <a:latin typeface="Platypi Medium" pitchFamily="34" charset="0"/>
                <a:ea typeface="Platypi Medium" pitchFamily="34" charset="-122"/>
                <a:cs typeface="Platypi Medium" pitchFamily="34" charset="-120"/>
              </a:rPr>
              <a:t>Smart Water Tank Level Monitoring and Automatic Pump Control System to Prevent Overflow and Water Shortage</a:t>
            </a:r>
            <a:endParaRPr lang="en-US" sz="3700" dirty="0"/>
          </a:p>
        </p:txBody>
      </p:sp>
      <p:sp>
        <p:nvSpPr>
          <p:cNvPr id="4" name="Text 1"/>
          <p:cNvSpPr/>
          <p:nvPr/>
        </p:nvSpPr>
        <p:spPr>
          <a:xfrm>
            <a:off x="661475" y="4442520"/>
            <a:ext cx="629686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Smart water management uses connected monitoring and control technologies to manage water resources efficiently. This project automatically monitors water levels and controls pumps to prevent water wastage while ensuring continuous water availability.</a:t>
            </a:r>
            <a:endParaRPr lang="en-US" sz="1450" dirty="0"/>
          </a:p>
        </p:txBody>
      </p:sp>
      <p:sp>
        <p:nvSpPr>
          <p:cNvPr id="5" name="TextBox 4">
            <a:extLst>
              <a:ext uri="{FF2B5EF4-FFF2-40B4-BE49-F238E27FC236}">
                <a16:creationId xmlns:a16="http://schemas.microsoft.com/office/drawing/2014/main" id="{FCD6DB53-9169-34CB-6D1A-177B0D787525}"/>
              </a:ext>
            </a:extLst>
          </p:cNvPr>
          <p:cNvSpPr txBox="1"/>
          <p:nvPr/>
        </p:nvSpPr>
        <p:spPr>
          <a:xfrm>
            <a:off x="83975" y="6211669"/>
            <a:ext cx="1861022" cy="646331"/>
          </a:xfrm>
          <a:prstGeom prst="rect">
            <a:avLst/>
          </a:prstGeom>
          <a:noFill/>
        </p:spPr>
        <p:txBody>
          <a:bodyPr wrap="none" rtlCol="0">
            <a:spAutoFit/>
          </a:bodyPr>
          <a:lstStyle/>
          <a:p>
            <a:r>
              <a:rPr lang="en-IN"/>
              <a:t>KONDETI GANESH</a:t>
            </a:r>
            <a:br>
              <a:rPr lang="en-IN"/>
            </a:br>
            <a:r>
              <a:rPr lang="en-IN"/>
              <a:t>32312952007</a:t>
            </a:r>
            <a:r>
              <a:rPr lang="en-IN" dirty="0"/>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5891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01B18"/>
                </a:solidFill>
                <a:latin typeface="Platypi Medium" pitchFamily="34" charset="0"/>
                <a:ea typeface="Platypi Medium" pitchFamily="34" charset="-122"/>
                <a:cs typeface="Platypi Medium" pitchFamily="34" charset="-120"/>
              </a:rPr>
              <a:t>Problem Statement</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627584"/>
            <a:ext cx="3496877" cy="2342455"/>
          </a:xfrm>
          <a:prstGeom prst="rect">
            <a:avLst/>
          </a:prstGeom>
        </p:spPr>
      </p:pic>
      <p:sp>
        <p:nvSpPr>
          <p:cNvPr id="4" name="Text 1"/>
          <p:cNvSpPr/>
          <p:nvPr/>
        </p:nvSpPr>
        <p:spPr>
          <a:xfrm>
            <a:off x="977479" y="1841996"/>
            <a:ext cx="296646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Time-Consuming Manual Monitoring</a:t>
            </a:r>
            <a:endParaRPr lang="en-US" sz="1850" dirty="0"/>
          </a:p>
        </p:txBody>
      </p:sp>
      <p:sp>
        <p:nvSpPr>
          <p:cNvPr id="5" name="Text 2"/>
          <p:cNvSpPr/>
          <p:nvPr/>
        </p:nvSpPr>
        <p:spPr>
          <a:xfrm>
            <a:off x="977479" y="2545953"/>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Traditional manual water tank monitoring is unreliable and demands constant human attention.</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1627584"/>
            <a:ext cx="3496877" cy="2342455"/>
          </a:xfrm>
          <a:prstGeom prst="rect">
            <a:avLst/>
          </a:prstGeom>
        </p:spPr>
      </p:pic>
      <p:sp>
        <p:nvSpPr>
          <p:cNvPr id="7" name="Text 3"/>
          <p:cNvSpPr/>
          <p:nvPr/>
        </p:nvSpPr>
        <p:spPr>
          <a:xfrm>
            <a:off x="4663363" y="1841996"/>
            <a:ext cx="296646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Overflow and Water Wastage</a:t>
            </a:r>
            <a:endParaRPr lang="en-US" sz="1850" dirty="0"/>
          </a:p>
        </p:txBody>
      </p:sp>
      <p:sp>
        <p:nvSpPr>
          <p:cNvPr id="8" name="Text 4"/>
          <p:cNvSpPr/>
          <p:nvPr/>
        </p:nvSpPr>
        <p:spPr>
          <a:xfrm>
            <a:off x="4663363" y="2545953"/>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Manual pump operation frequently leads to tank overflow, wasting significant water resources.</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1627584"/>
            <a:ext cx="3496877" cy="2342455"/>
          </a:xfrm>
          <a:prstGeom prst="rect">
            <a:avLst/>
          </a:prstGeom>
        </p:spPr>
      </p:pic>
      <p:sp>
        <p:nvSpPr>
          <p:cNvPr id="10" name="Text 5"/>
          <p:cNvSpPr/>
          <p:nvPr/>
        </p:nvSpPr>
        <p:spPr>
          <a:xfrm>
            <a:off x="8349247" y="1841996"/>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Water Shortages</a:t>
            </a:r>
            <a:endParaRPr lang="en-US" sz="1850" dirty="0"/>
          </a:p>
        </p:txBody>
      </p:sp>
      <p:sp>
        <p:nvSpPr>
          <p:cNvPr id="11" name="Text 6"/>
          <p:cNvSpPr/>
          <p:nvPr/>
        </p:nvSpPr>
        <p:spPr>
          <a:xfrm>
            <a:off x="8349247" y="2250678"/>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Delayed monitoring causes dry-tank conditions and disrupts continuous water availability.</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159052"/>
            <a:ext cx="3496877" cy="2040037"/>
          </a:xfrm>
          <a:prstGeom prst="rect">
            <a:avLst/>
          </a:prstGeom>
        </p:spPr>
      </p:pic>
      <p:sp>
        <p:nvSpPr>
          <p:cNvPr id="13" name="Text 7"/>
          <p:cNvSpPr/>
          <p:nvPr/>
        </p:nvSpPr>
        <p:spPr>
          <a:xfrm>
            <a:off x="977479" y="4373463"/>
            <a:ext cx="296646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Excess Energy Consumption</a:t>
            </a:r>
            <a:endParaRPr lang="en-US" sz="1850" dirty="0"/>
          </a:p>
        </p:txBody>
      </p:sp>
      <p:sp>
        <p:nvSpPr>
          <p:cNvPr id="14" name="Text 8"/>
          <p:cNvSpPr/>
          <p:nvPr/>
        </p:nvSpPr>
        <p:spPr>
          <a:xfrm>
            <a:off x="977479" y="5077420"/>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Unnecessary pump operation drives up electricity costs without delivering any benefit.</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7359" y="4159052"/>
            <a:ext cx="3496877" cy="2040037"/>
          </a:xfrm>
          <a:prstGeom prst="rect">
            <a:avLst/>
          </a:prstGeom>
        </p:spPr>
      </p:pic>
      <p:sp>
        <p:nvSpPr>
          <p:cNvPr id="16" name="Text 9"/>
          <p:cNvSpPr/>
          <p:nvPr/>
        </p:nvSpPr>
        <p:spPr>
          <a:xfrm>
            <a:off x="4663363" y="4373463"/>
            <a:ext cx="296646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Need for Intelligent Management</a:t>
            </a:r>
            <a:endParaRPr lang="en-US" sz="1850" dirty="0"/>
          </a:p>
        </p:txBody>
      </p:sp>
      <p:sp>
        <p:nvSpPr>
          <p:cNvPr id="17" name="Text 10"/>
          <p:cNvSpPr/>
          <p:nvPr/>
        </p:nvSpPr>
        <p:spPr>
          <a:xfrm>
            <a:off x="4663363" y="5077420"/>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Real-time, automated water management is essential for modern facilities.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469430"/>
            <a:ext cx="6915870" cy="3919041"/>
          </a:xfrm>
          <a:prstGeom prst="rect">
            <a:avLst/>
          </a:prstGeom>
        </p:spPr>
      </p:pic>
      <p:sp>
        <p:nvSpPr>
          <p:cNvPr id="3" name="Text 0"/>
          <p:cNvSpPr/>
          <p:nvPr/>
        </p:nvSpPr>
        <p:spPr>
          <a:xfrm>
            <a:off x="8008737" y="691455"/>
            <a:ext cx="3527734" cy="1089025"/>
          </a:xfrm>
          <a:prstGeom prst="rect">
            <a:avLst/>
          </a:prstGeom>
          <a:noFill/>
          <a:ln/>
        </p:spPr>
        <p:txBody>
          <a:bodyPr wrap="square" lIns="0" tIns="0" rIns="0" bIns="0" rtlCol="0" anchor="t">
            <a:normAutofit/>
          </a:bodyPr>
          <a:lstStyle/>
          <a:p>
            <a:pPr marL="0" indent="0" algn="l">
              <a:lnSpc>
                <a:spcPct val="104000"/>
              </a:lnSpc>
              <a:buNone/>
            </a:pPr>
            <a:r>
              <a:rPr lang="en-US" sz="3400" dirty="0">
                <a:solidFill>
                  <a:srgbClr val="201B18"/>
                </a:solidFill>
                <a:latin typeface="Platypi Medium" pitchFamily="34" charset="0"/>
                <a:ea typeface="Platypi Medium" pitchFamily="34" charset="-122"/>
                <a:cs typeface="Platypi Medium" pitchFamily="34" charset="-120"/>
              </a:rPr>
              <a:t>Proposed Solution</a:t>
            </a:r>
            <a:endParaRPr lang="en-US" sz="3400" dirty="0"/>
          </a:p>
        </p:txBody>
      </p:sp>
      <p:sp>
        <p:nvSpPr>
          <p:cNvPr id="4" name="Text 1"/>
          <p:cNvSpPr/>
          <p:nvPr/>
        </p:nvSpPr>
        <p:spPr>
          <a:xfrm>
            <a:off x="8008737" y="1941116"/>
            <a:ext cx="3527734" cy="1071166"/>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504C49"/>
                </a:solidFill>
                <a:latin typeface="Source Serif 4" pitchFamily="34" charset="0"/>
                <a:ea typeface="Source Serif 4" pitchFamily="34" charset="-122"/>
                <a:cs typeface="Source Serif 4" pitchFamily="34" charset="-120"/>
              </a:rPr>
              <a:t>The </a:t>
            </a:r>
            <a:r>
              <a:rPr lang="en-US" sz="1350" b="1" dirty="0">
                <a:solidFill>
                  <a:srgbClr val="504C49"/>
                </a:solidFill>
                <a:latin typeface="Source Serif 4 Bold" pitchFamily="34" charset="0"/>
                <a:ea typeface="Source Serif 4 Bold" pitchFamily="34" charset="-122"/>
                <a:cs typeface="Source Serif 4 Bold" pitchFamily="34" charset="-120"/>
              </a:rPr>
              <a:t>Smart Water Tank Level Monitoring and Automatic Pump Control System</a:t>
            </a:r>
            <a:r>
              <a:rPr lang="en-US" sz="1350" dirty="0">
                <a:solidFill>
                  <a:srgbClr val="504C49"/>
                </a:solidFill>
                <a:latin typeface="Source Serif 4" pitchFamily="34" charset="0"/>
                <a:ea typeface="Source Serif 4" pitchFamily="34" charset="-122"/>
                <a:cs typeface="Source Serif 4" pitchFamily="34" charset="-120"/>
              </a:rPr>
              <a:t> delivers fully automated water management through IoT technology.</a:t>
            </a:r>
            <a:endParaRPr lang="en-US" sz="1350" dirty="0"/>
          </a:p>
        </p:txBody>
      </p:sp>
      <p:sp>
        <p:nvSpPr>
          <p:cNvPr id="5" name="Text 2"/>
          <p:cNvSpPr/>
          <p:nvPr/>
        </p:nvSpPr>
        <p:spPr>
          <a:xfrm>
            <a:off x="8008737" y="3156843"/>
            <a:ext cx="3527734" cy="3114179"/>
          </a:xfrm>
          <a:prstGeom prst="rect">
            <a:avLst/>
          </a:prstGeom>
          <a:noFill/>
          <a:ln/>
        </p:spPr>
        <p:txBody>
          <a:bodyPr wrap="square" lIns="0" tIns="69700" rIns="0" bIns="0" rtlCol="0" anchor="t">
            <a:normAutofit/>
          </a:bodyPr>
          <a:lstStyle/>
          <a:p>
            <a:pPr marL="274320" indent="-274320" algn="l">
              <a:lnSpc>
                <a:spcPct val="128000"/>
              </a:lnSpc>
              <a:buSzPct val="100000"/>
              <a:buChar char="•"/>
            </a:pPr>
            <a:r>
              <a:rPr lang="en-US" sz="1350" dirty="0">
                <a:solidFill>
                  <a:srgbClr val="504C49"/>
                </a:solidFill>
                <a:latin typeface="Source Serif 4" pitchFamily="34" charset="0"/>
                <a:ea typeface="Source Serif 4" pitchFamily="34" charset="-122"/>
                <a:cs typeface="Source Serif 4" pitchFamily="34" charset="-120"/>
              </a:rPr>
              <a:t>IoT technology enables </a:t>
            </a:r>
            <a:r>
              <a:rPr lang="en-US" sz="1350" b="1" dirty="0">
                <a:solidFill>
                  <a:srgbClr val="504C49"/>
                </a:solidFill>
                <a:latin typeface="Source Serif 4 Bold" pitchFamily="34" charset="0"/>
                <a:ea typeface="Source Serif 4 Bold" pitchFamily="34" charset="-122"/>
                <a:cs typeface="Source Serif 4 Bold" pitchFamily="34" charset="-120"/>
              </a:rPr>
              <a:t>continuous water-level monitoring</a:t>
            </a:r>
            <a:r>
              <a:rPr lang="en-US" sz="1350" dirty="0">
                <a:solidFill>
                  <a:srgbClr val="504C49"/>
                </a:solidFill>
                <a:latin typeface="Source Serif 4" pitchFamily="34" charset="0"/>
                <a:ea typeface="Source Serif 4" pitchFamily="34" charset="-122"/>
                <a:cs typeface="Source Serif 4" pitchFamily="34" charset="-120"/>
              </a:rPr>
              <a:t> without manual intervention.</a:t>
            </a:r>
            <a:endParaRPr lang="en-US" sz="1350" dirty="0"/>
          </a:p>
          <a:p>
            <a:pPr marL="274320" indent="-274320" algn="l">
              <a:lnSpc>
                <a:spcPct val="128000"/>
              </a:lnSpc>
              <a:buSzPct val="100000"/>
              <a:buChar char="•"/>
            </a:pPr>
            <a:r>
              <a:rPr lang="en-US" sz="1350" dirty="0">
                <a:solidFill>
                  <a:srgbClr val="504C49"/>
                </a:solidFill>
                <a:latin typeface="Source Serif 4" pitchFamily="34" charset="0"/>
                <a:ea typeface="Source Serif 4" pitchFamily="34" charset="-122"/>
                <a:cs typeface="Source Serif 4" pitchFamily="34" charset="-120"/>
              </a:rPr>
              <a:t>The pump is controlled automatically using </a:t>
            </a:r>
            <a:r>
              <a:rPr lang="en-US" sz="1350" b="1" dirty="0">
                <a:solidFill>
                  <a:srgbClr val="504C49"/>
                </a:solidFill>
                <a:latin typeface="Source Serif 4 Bold" pitchFamily="34" charset="0"/>
                <a:ea typeface="Source Serif 4 Bold" pitchFamily="34" charset="-122"/>
                <a:cs typeface="Source Serif 4 Bold" pitchFamily="34" charset="-120"/>
              </a:rPr>
              <a:t>predefined water-level thresholds</a:t>
            </a:r>
            <a:r>
              <a:rPr lang="en-US" sz="1350" dirty="0">
                <a:solidFill>
                  <a:srgbClr val="504C49"/>
                </a:solidFill>
                <a:latin typeface="Source Serif 4" pitchFamily="34" charset="0"/>
                <a:ea typeface="Source Serif 4" pitchFamily="34" charset="-122"/>
                <a:cs typeface="Source Serif 4" pitchFamily="34" charset="-120"/>
              </a:rPr>
              <a:t>.</a:t>
            </a:r>
            <a:endParaRPr lang="en-US" sz="1350" dirty="0"/>
          </a:p>
          <a:p>
            <a:pPr marL="274320" indent="-274320" algn="l">
              <a:lnSpc>
                <a:spcPct val="128000"/>
              </a:lnSpc>
              <a:buSzPct val="100000"/>
              <a:buChar char="•"/>
            </a:pPr>
            <a:r>
              <a:rPr lang="en-US" sz="1350" dirty="0">
                <a:solidFill>
                  <a:srgbClr val="504C49"/>
                </a:solidFill>
                <a:latin typeface="Source Serif 4" pitchFamily="34" charset="0"/>
                <a:ea typeface="Source Serif 4" pitchFamily="34" charset="-122"/>
                <a:cs typeface="Source Serif 4" pitchFamily="34" charset="-120"/>
              </a:rPr>
              <a:t>A secure, user-friendly interface enables </a:t>
            </a:r>
            <a:r>
              <a:rPr lang="en-US" sz="1350" b="1" dirty="0">
                <a:solidFill>
                  <a:srgbClr val="504C49"/>
                </a:solidFill>
                <a:latin typeface="Source Serif 4 Bold" pitchFamily="34" charset="0"/>
                <a:ea typeface="Source Serif 4 Bold" pitchFamily="34" charset="-122"/>
                <a:cs typeface="Source Serif 4 Bold" pitchFamily="34" charset="-120"/>
              </a:rPr>
              <a:t>centralized remote monitoring</a:t>
            </a:r>
            <a:r>
              <a:rPr lang="en-US" sz="1350" dirty="0">
                <a:solidFill>
                  <a:srgbClr val="504C49"/>
                </a:solidFill>
                <a:latin typeface="Source Serif 4" pitchFamily="34" charset="0"/>
                <a:ea typeface="Source Serif 4" pitchFamily="34" charset="-122"/>
                <a:cs typeface="Source Serif 4" pitchFamily="34" charset="-120"/>
              </a:rPr>
              <a:t>.</a:t>
            </a:r>
            <a:endParaRPr lang="en-US" sz="1350" dirty="0"/>
          </a:p>
          <a:p>
            <a:pPr marL="274320" indent="-274320" algn="l">
              <a:lnSpc>
                <a:spcPct val="128000"/>
              </a:lnSpc>
              <a:buSzPct val="100000"/>
              <a:buChar char="•"/>
            </a:pPr>
            <a:r>
              <a:rPr lang="en-US" sz="1350" dirty="0">
                <a:solidFill>
                  <a:srgbClr val="504C49"/>
                </a:solidFill>
                <a:latin typeface="Source Serif 4" pitchFamily="34" charset="0"/>
                <a:ea typeface="Source Serif 4" pitchFamily="34" charset="-122"/>
                <a:cs typeface="Source Serif 4" pitchFamily="34" charset="-120"/>
              </a:rPr>
              <a:t>Eliminates overflow, water shortage, and unnecessary energy consumption.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8291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01B18"/>
                </a:solidFill>
                <a:latin typeface="Platypi Medium" pitchFamily="34" charset="0"/>
                <a:ea typeface="Platypi Medium" pitchFamily="34" charset="-122"/>
                <a:cs typeface="Platypi Medium" pitchFamily="34" charset="-120"/>
              </a:rPr>
              <a:t>System Components</a:t>
            </a:r>
            <a:endParaRPr lang="en-US" sz="3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389063"/>
            <a:ext cx="413434" cy="413445"/>
          </a:xfrm>
          <a:prstGeom prst="rect">
            <a:avLst/>
          </a:prstGeom>
        </p:spPr>
      </p:pic>
      <p:sp>
        <p:nvSpPr>
          <p:cNvPr id="4" name="Text 1"/>
          <p:cNvSpPr/>
          <p:nvPr/>
        </p:nvSpPr>
        <p:spPr>
          <a:xfrm>
            <a:off x="661475" y="1983383"/>
            <a:ext cx="53438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Level Sensors</a:t>
            </a:r>
            <a:endParaRPr lang="en-US" sz="1600" dirty="0"/>
          </a:p>
        </p:txBody>
      </p:sp>
      <p:sp>
        <p:nvSpPr>
          <p:cNvPr id="5" name="Text 2"/>
          <p:cNvSpPr/>
          <p:nvPr/>
        </p:nvSpPr>
        <p:spPr>
          <a:xfrm>
            <a:off x="661475" y="2328664"/>
            <a:ext cx="53438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Ultrasonic or water-level sensors continuously measure the water level inside the tank.</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6234" y="1389063"/>
            <a:ext cx="413434" cy="413445"/>
          </a:xfrm>
          <a:prstGeom prst="rect">
            <a:avLst/>
          </a:prstGeom>
        </p:spPr>
      </p:pic>
      <p:sp>
        <p:nvSpPr>
          <p:cNvPr id="7" name="Text 3"/>
          <p:cNvSpPr/>
          <p:nvPr/>
        </p:nvSpPr>
        <p:spPr>
          <a:xfrm>
            <a:off x="6186234" y="1983383"/>
            <a:ext cx="53439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IoT Communication Module</a:t>
            </a:r>
            <a:endParaRPr lang="en-US" sz="1600" dirty="0"/>
          </a:p>
        </p:txBody>
      </p:sp>
      <p:sp>
        <p:nvSpPr>
          <p:cNvPr id="8" name="Text 4"/>
          <p:cNvSpPr/>
          <p:nvPr/>
        </p:nvSpPr>
        <p:spPr>
          <a:xfrm>
            <a:off x="6186234" y="2328664"/>
            <a:ext cx="53439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Transfers real-time sensor data to the connected system for processing.</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114179"/>
            <a:ext cx="413434" cy="413445"/>
          </a:xfrm>
          <a:prstGeom prst="rect">
            <a:avLst/>
          </a:prstGeom>
        </p:spPr>
      </p:pic>
      <p:sp>
        <p:nvSpPr>
          <p:cNvPr id="10" name="Text 5"/>
          <p:cNvSpPr/>
          <p:nvPr/>
        </p:nvSpPr>
        <p:spPr>
          <a:xfrm>
            <a:off x="661475" y="3708499"/>
            <a:ext cx="53438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Cloud Connectivity</a:t>
            </a:r>
            <a:endParaRPr lang="en-US" sz="1600" dirty="0"/>
          </a:p>
        </p:txBody>
      </p:sp>
      <p:sp>
        <p:nvSpPr>
          <p:cNvPr id="11" name="Text 6"/>
          <p:cNvSpPr/>
          <p:nvPr/>
        </p:nvSpPr>
        <p:spPr>
          <a:xfrm>
            <a:off x="661475" y="4053780"/>
            <a:ext cx="53438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Supports remote access and centralized data monitoring from any location.</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6234" y="3114179"/>
            <a:ext cx="413434" cy="413445"/>
          </a:xfrm>
          <a:prstGeom prst="rect">
            <a:avLst/>
          </a:prstGeom>
        </p:spPr>
      </p:pic>
      <p:sp>
        <p:nvSpPr>
          <p:cNvPr id="13" name="Text 7"/>
          <p:cNvSpPr/>
          <p:nvPr/>
        </p:nvSpPr>
        <p:spPr>
          <a:xfrm>
            <a:off x="6186234" y="3708499"/>
            <a:ext cx="53439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Pump Control Mechanism</a:t>
            </a:r>
            <a:endParaRPr lang="en-US" sz="1600" dirty="0"/>
          </a:p>
        </p:txBody>
      </p:sp>
      <p:sp>
        <p:nvSpPr>
          <p:cNvPr id="14" name="Text 8"/>
          <p:cNvSpPr/>
          <p:nvPr/>
        </p:nvSpPr>
        <p:spPr>
          <a:xfrm>
            <a:off x="6186234" y="4053780"/>
            <a:ext cx="53439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Automatically switches the pump ON or OFF based on threshold comparisons.</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839295"/>
            <a:ext cx="413434" cy="413445"/>
          </a:xfrm>
          <a:prstGeom prst="rect">
            <a:avLst/>
          </a:prstGeom>
        </p:spPr>
      </p:pic>
      <p:sp>
        <p:nvSpPr>
          <p:cNvPr id="16" name="Text 9"/>
          <p:cNvSpPr/>
          <p:nvPr/>
        </p:nvSpPr>
        <p:spPr>
          <a:xfrm>
            <a:off x="661475" y="5433616"/>
            <a:ext cx="53438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Water Tank and Pump</a:t>
            </a:r>
            <a:endParaRPr lang="en-US" sz="1600" dirty="0"/>
          </a:p>
        </p:txBody>
      </p:sp>
      <p:sp>
        <p:nvSpPr>
          <p:cNvPr id="17" name="Text 10"/>
          <p:cNvSpPr/>
          <p:nvPr/>
        </p:nvSpPr>
        <p:spPr>
          <a:xfrm>
            <a:off x="661475" y="5778897"/>
            <a:ext cx="53438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Physical infrastructure for storing and supplying water to the facility.</a:t>
            </a:r>
            <a:endParaRPr lang="en-US" sz="1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86234" y="4839295"/>
            <a:ext cx="413434" cy="413445"/>
          </a:xfrm>
          <a:prstGeom prst="rect">
            <a:avLst/>
          </a:prstGeom>
        </p:spPr>
      </p:pic>
      <p:sp>
        <p:nvSpPr>
          <p:cNvPr id="19" name="Text 11"/>
          <p:cNvSpPr/>
          <p:nvPr/>
        </p:nvSpPr>
        <p:spPr>
          <a:xfrm>
            <a:off x="6186234" y="5433616"/>
            <a:ext cx="5343987" cy="258465"/>
          </a:xfrm>
          <a:prstGeom prst="rect">
            <a:avLst/>
          </a:prstGeom>
          <a:noFill/>
          <a:ln/>
        </p:spPr>
        <p:txBody>
          <a:bodyPr wrap="none" lIns="0" tIns="0" rIns="0" bIns="0" rtlCol="0" anchor="t"/>
          <a:lstStyle/>
          <a:p>
            <a:pPr marL="0" indent="0" algn="l">
              <a:lnSpc>
                <a:spcPct val="104000"/>
              </a:lnSpc>
              <a:buNone/>
            </a:pPr>
            <a:r>
              <a:rPr lang="en-US" sz="1600" dirty="0">
                <a:solidFill>
                  <a:srgbClr val="504C49"/>
                </a:solidFill>
                <a:latin typeface="Platypi Medium" pitchFamily="34" charset="0"/>
                <a:ea typeface="Platypi Medium" pitchFamily="34" charset="-122"/>
                <a:cs typeface="Platypi Medium" pitchFamily="34" charset="-120"/>
              </a:rPr>
              <a:t>Monitoring Dashboard</a:t>
            </a:r>
            <a:endParaRPr lang="en-US" sz="1600" dirty="0"/>
          </a:p>
        </p:txBody>
      </p:sp>
      <p:sp>
        <p:nvSpPr>
          <p:cNvPr id="20" name="Text 12"/>
          <p:cNvSpPr/>
          <p:nvPr/>
        </p:nvSpPr>
        <p:spPr>
          <a:xfrm>
            <a:off x="6186234" y="5778897"/>
            <a:ext cx="5343987"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504C49"/>
                </a:solidFill>
                <a:latin typeface="Source Serif 4" pitchFamily="34" charset="0"/>
                <a:ea typeface="Source Serif 4" pitchFamily="34" charset="-122"/>
                <a:cs typeface="Source Serif 4" pitchFamily="34" charset="-120"/>
              </a:rPr>
              <a:t>Displays system status, alerts, and real-time data through a centralized interface.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42131"/>
            <a:ext cx="10868745" cy="359866"/>
          </a:xfrm>
          <a:prstGeom prst="rect">
            <a:avLst/>
          </a:prstGeom>
          <a:noFill/>
          <a:ln/>
        </p:spPr>
        <p:txBody>
          <a:bodyPr wrap="none" lIns="0" tIns="0" rIns="0" bIns="0" rtlCol="0" anchor="t"/>
          <a:lstStyle/>
          <a:p>
            <a:pPr marL="0" indent="0" algn="l">
              <a:lnSpc>
                <a:spcPct val="104000"/>
              </a:lnSpc>
              <a:buNone/>
            </a:pPr>
            <a:r>
              <a:rPr lang="en-US" sz="2250" dirty="0">
                <a:solidFill>
                  <a:srgbClr val="201B18"/>
                </a:solidFill>
                <a:latin typeface="Platypi Medium" pitchFamily="34" charset="0"/>
                <a:ea typeface="Platypi Medium" pitchFamily="34" charset="-122"/>
                <a:cs typeface="Platypi Medium" pitchFamily="34" charset="-120"/>
              </a:rPr>
              <a:t>Working Principle</a:t>
            </a:r>
            <a:endParaRPr lang="en-US" sz="2250" dirty="0"/>
          </a:p>
        </p:txBody>
      </p:sp>
      <p:pic>
        <p:nvPicPr>
          <p:cNvPr id="3" name="Image 0" descr="preencoded.png"/>
          <p:cNvPicPr>
            <a:picLocks noChangeAspect="1"/>
          </p:cNvPicPr>
          <p:nvPr/>
        </p:nvPicPr>
        <p:blipFill>
          <a:blip r:embed="rId3"/>
          <a:stretch>
            <a:fillRect/>
          </a:stretch>
        </p:blipFill>
        <p:spPr>
          <a:xfrm>
            <a:off x="661475" y="2174677"/>
            <a:ext cx="6966272" cy="2614116"/>
          </a:xfrm>
          <a:prstGeom prst="rect">
            <a:avLst/>
          </a:prstGeom>
        </p:spPr>
      </p:pic>
      <p:sp>
        <p:nvSpPr>
          <p:cNvPr id="4" name="Text 1"/>
          <p:cNvSpPr/>
          <p:nvPr/>
        </p:nvSpPr>
        <p:spPr>
          <a:xfrm>
            <a:off x="6290145" y="4154192"/>
            <a:ext cx="1050717" cy="202412"/>
          </a:xfrm>
          <a:prstGeom prst="rect">
            <a:avLst/>
          </a:prstGeom>
          <a:noFill/>
          <a:ln/>
        </p:spPr>
        <p:txBody>
          <a:bodyPr wrap="none" lIns="0" tIns="0" rIns="0" bIns="0" rtlCol="0" anchor="t"/>
          <a:lstStyle/>
          <a:p>
            <a:pPr marL="0" indent="0" algn="ctr">
              <a:lnSpc>
                <a:spcPct val="104000"/>
              </a:lnSpc>
              <a:buNone/>
            </a:pPr>
            <a:r>
              <a:rPr lang="en-US" sz="1250" dirty="0">
                <a:solidFill>
                  <a:srgbClr val="504C49"/>
                </a:solidFill>
                <a:latin typeface="Platypi Medium" pitchFamily="34" charset="0"/>
                <a:ea typeface="Platypi Medium" pitchFamily="34" charset="-122"/>
                <a:cs typeface="Platypi Medium" pitchFamily="34" charset="-120"/>
              </a:rPr>
              <a:t>Actuate</a:t>
            </a:r>
            <a:endParaRPr lang="en-US" sz="1250" dirty="0"/>
          </a:p>
        </p:txBody>
      </p:sp>
      <p:sp>
        <p:nvSpPr>
          <p:cNvPr id="5" name="Text 2"/>
          <p:cNvSpPr/>
          <p:nvPr/>
        </p:nvSpPr>
        <p:spPr>
          <a:xfrm>
            <a:off x="4965954" y="4154192"/>
            <a:ext cx="1050716" cy="202412"/>
          </a:xfrm>
          <a:prstGeom prst="rect">
            <a:avLst/>
          </a:prstGeom>
          <a:noFill/>
          <a:ln/>
        </p:spPr>
        <p:txBody>
          <a:bodyPr wrap="none" lIns="0" tIns="0" rIns="0" bIns="0" rtlCol="0" anchor="t"/>
          <a:lstStyle/>
          <a:p>
            <a:pPr marL="0" indent="0" algn="ctr">
              <a:lnSpc>
                <a:spcPct val="104000"/>
              </a:lnSpc>
              <a:buNone/>
            </a:pPr>
            <a:r>
              <a:rPr lang="en-US" sz="1250" dirty="0">
                <a:solidFill>
                  <a:srgbClr val="504C49"/>
                </a:solidFill>
                <a:latin typeface="Platypi Medium" pitchFamily="34" charset="0"/>
                <a:ea typeface="Platypi Medium" pitchFamily="34" charset="-122"/>
                <a:cs typeface="Platypi Medium" pitchFamily="34" charset="-120"/>
              </a:rPr>
              <a:t>Compare</a:t>
            </a:r>
            <a:endParaRPr lang="en-US" sz="1250" dirty="0"/>
          </a:p>
        </p:txBody>
      </p:sp>
      <p:sp>
        <p:nvSpPr>
          <p:cNvPr id="6" name="Text 3"/>
          <p:cNvSpPr/>
          <p:nvPr/>
        </p:nvSpPr>
        <p:spPr>
          <a:xfrm>
            <a:off x="3648960" y="4154192"/>
            <a:ext cx="1050717" cy="202412"/>
          </a:xfrm>
          <a:prstGeom prst="rect">
            <a:avLst/>
          </a:prstGeom>
          <a:noFill/>
          <a:ln/>
        </p:spPr>
        <p:txBody>
          <a:bodyPr wrap="none" lIns="0" tIns="0" rIns="0" bIns="0" rtlCol="0" anchor="t"/>
          <a:lstStyle/>
          <a:p>
            <a:pPr marL="0" indent="0" algn="ctr">
              <a:lnSpc>
                <a:spcPct val="104000"/>
              </a:lnSpc>
              <a:buNone/>
            </a:pPr>
            <a:r>
              <a:rPr lang="en-US" sz="1250" dirty="0">
                <a:solidFill>
                  <a:srgbClr val="504C49"/>
                </a:solidFill>
                <a:latin typeface="Platypi Medium" pitchFamily="34" charset="0"/>
                <a:ea typeface="Platypi Medium" pitchFamily="34" charset="-122"/>
                <a:cs typeface="Platypi Medium" pitchFamily="34" charset="-120"/>
              </a:rPr>
              <a:t>Transmit</a:t>
            </a:r>
            <a:endParaRPr lang="en-US" sz="1250" dirty="0"/>
          </a:p>
        </p:txBody>
      </p:sp>
      <p:sp>
        <p:nvSpPr>
          <p:cNvPr id="7" name="Text 4"/>
          <p:cNvSpPr/>
          <p:nvPr/>
        </p:nvSpPr>
        <p:spPr>
          <a:xfrm>
            <a:off x="2331967" y="4154192"/>
            <a:ext cx="1050717" cy="202412"/>
          </a:xfrm>
          <a:prstGeom prst="rect">
            <a:avLst/>
          </a:prstGeom>
          <a:noFill/>
          <a:ln/>
        </p:spPr>
        <p:txBody>
          <a:bodyPr wrap="none" lIns="0" tIns="0" rIns="0" bIns="0" rtlCol="0" anchor="t"/>
          <a:lstStyle/>
          <a:p>
            <a:pPr marL="0" indent="0" algn="ctr">
              <a:lnSpc>
                <a:spcPct val="104000"/>
              </a:lnSpc>
              <a:buNone/>
            </a:pPr>
            <a:r>
              <a:rPr lang="en-US" sz="1250" dirty="0">
                <a:solidFill>
                  <a:srgbClr val="504C49"/>
                </a:solidFill>
                <a:latin typeface="Platypi Medium" pitchFamily="34" charset="0"/>
                <a:ea typeface="Platypi Medium" pitchFamily="34" charset="-122"/>
                <a:cs typeface="Platypi Medium" pitchFamily="34" charset="-120"/>
              </a:rPr>
              <a:t>Processing</a:t>
            </a:r>
            <a:endParaRPr lang="en-US" sz="1250" dirty="0"/>
          </a:p>
        </p:txBody>
      </p:sp>
      <p:sp>
        <p:nvSpPr>
          <p:cNvPr id="8" name="Text 5"/>
          <p:cNvSpPr/>
          <p:nvPr/>
        </p:nvSpPr>
        <p:spPr>
          <a:xfrm>
            <a:off x="986186" y="4154192"/>
            <a:ext cx="1050716" cy="202412"/>
          </a:xfrm>
          <a:prstGeom prst="rect">
            <a:avLst/>
          </a:prstGeom>
          <a:noFill/>
          <a:ln/>
        </p:spPr>
        <p:txBody>
          <a:bodyPr wrap="none" lIns="0" tIns="0" rIns="0" bIns="0" rtlCol="0" anchor="t"/>
          <a:lstStyle/>
          <a:p>
            <a:pPr marL="0" indent="0" algn="ctr">
              <a:lnSpc>
                <a:spcPct val="104000"/>
              </a:lnSpc>
              <a:buNone/>
            </a:pPr>
            <a:r>
              <a:rPr lang="en-US" sz="1250" dirty="0">
                <a:solidFill>
                  <a:srgbClr val="504C49"/>
                </a:solidFill>
                <a:latin typeface="Platypi Medium" pitchFamily="34" charset="0"/>
                <a:ea typeface="Platypi Medium" pitchFamily="34" charset="-122"/>
                <a:cs typeface="Platypi Medium" pitchFamily="34" charset="-120"/>
              </a:rPr>
              <a:t>Sensing</a:t>
            </a:r>
            <a:endParaRPr lang="en-US" sz="1250" dirty="0"/>
          </a:p>
        </p:txBody>
      </p:sp>
      <p:sp>
        <p:nvSpPr>
          <p:cNvPr id="9" name="Text 6"/>
          <p:cNvSpPr/>
          <p:nvPr/>
        </p:nvSpPr>
        <p:spPr>
          <a:xfrm>
            <a:off x="661475" y="4867672"/>
            <a:ext cx="6966272" cy="296466"/>
          </a:xfrm>
          <a:prstGeom prst="rect">
            <a:avLst/>
          </a:prstGeom>
          <a:noFill/>
          <a:ln/>
        </p:spPr>
        <p:txBody>
          <a:bodyPr wrap="square" lIns="0" tIns="0" rIns="0" bIns="0" rtlCol="0" anchor="t">
            <a:normAutofit/>
          </a:bodyPr>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The system operates as a closed-loop automation cycle — from continuous sensing through intelligent decision-making to remote user oversight.</a:t>
            </a:r>
            <a:endParaRPr lang="en-US" sz="900" dirty="0"/>
          </a:p>
        </p:txBody>
      </p:sp>
      <p:sp>
        <p:nvSpPr>
          <p:cNvPr id="10" name="Text 7"/>
          <p:cNvSpPr/>
          <p:nvPr/>
        </p:nvSpPr>
        <p:spPr>
          <a:xfrm>
            <a:off x="7915077" y="1086148"/>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01</a:t>
            </a:r>
            <a:endParaRPr lang="en-US" sz="900" dirty="0"/>
          </a:p>
        </p:txBody>
      </p:sp>
      <p:sp>
        <p:nvSpPr>
          <p:cNvPr id="11" name="Shape 8"/>
          <p:cNvSpPr/>
          <p:nvPr/>
        </p:nvSpPr>
        <p:spPr>
          <a:xfrm>
            <a:off x="7915077" y="1269206"/>
            <a:ext cx="3621394" cy="12700"/>
          </a:xfrm>
          <a:prstGeom prst="rect">
            <a:avLst/>
          </a:prstGeom>
          <a:solidFill>
            <a:srgbClr val="3E2513"/>
          </a:solidFill>
          <a:ln/>
        </p:spPr>
      </p:sp>
      <p:sp>
        <p:nvSpPr>
          <p:cNvPr id="12" name="Text 9"/>
          <p:cNvSpPr/>
          <p:nvPr/>
        </p:nvSpPr>
        <p:spPr>
          <a:xfrm>
            <a:off x="7915077" y="1352153"/>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Sense</a:t>
            </a:r>
            <a:endParaRPr lang="en-US" sz="1100" dirty="0"/>
          </a:p>
        </p:txBody>
      </p:sp>
      <p:sp>
        <p:nvSpPr>
          <p:cNvPr id="13" name="Text 10"/>
          <p:cNvSpPr/>
          <p:nvPr/>
        </p:nvSpPr>
        <p:spPr>
          <a:xfrm>
            <a:off x="7915077" y="1602184"/>
            <a:ext cx="3621394" cy="148233"/>
          </a:xfrm>
          <a:prstGeom prst="rect">
            <a:avLst/>
          </a:prstGeom>
          <a:noFill/>
          <a:ln/>
        </p:spPr>
        <p:txBody>
          <a:bodyPr wrap="none" lIns="0" tIns="0" rIns="0" bIns="0" rtlCol="0" anchor="t"/>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Sensors continuously measure the water level in real time.</a:t>
            </a:r>
            <a:endParaRPr lang="en-US" sz="900" dirty="0"/>
          </a:p>
        </p:txBody>
      </p:sp>
      <p:sp>
        <p:nvSpPr>
          <p:cNvPr id="14" name="Text 11"/>
          <p:cNvSpPr/>
          <p:nvPr/>
        </p:nvSpPr>
        <p:spPr>
          <a:xfrm>
            <a:off x="7915077" y="1906885"/>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02</a:t>
            </a:r>
            <a:endParaRPr lang="en-US" sz="900" dirty="0"/>
          </a:p>
        </p:txBody>
      </p:sp>
      <p:sp>
        <p:nvSpPr>
          <p:cNvPr id="15" name="Shape 12"/>
          <p:cNvSpPr/>
          <p:nvPr/>
        </p:nvSpPr>
        <p:spPr>
          <a:xfrm>
            <a:off x="7915077" y="2089944"/>
            <a:ext cx="3621394" cy="12700"/>
          </a:xfrm>
          <a:prstGeom prst="rect">
            <a:avLst/>
          </a:prstGeom>
          <a:solidFill>
            <a:srgbClr val="3E2513"/>
          </a:solidFill>
          <a:ln/>
        </p:spPr>
      </p:sp>
      <p:sp>
        <p:nvSpPr>
          <p:cNvPr id="16" name="Text 13"/>
          <p:cNvSpPr/>
          <p:nvPr/>
        </p:nvSpPr>
        <p:spPr>
          <a:xfrm>
            <a:off x="7915077" y="2172891"/>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Process</a:t>
            </a:r>
            <a:endParaRPr lang="en-US" sz="1100" dirty="0"/>
          </a:p>
        </p:txBody>
      </p:sp>
      <p:sp>
        <p:nvSpPr>
          <p:cNvPr id="17" name="Text 14"/>
          <p:cNvSpPr/>
          <p:nvPr/>
        </p:nvSpPr>
        <p:spPr>
          <a:xfrm>
            <a:off x="7915077" y="2422922"/>
            <a:ext cx="3621394" cy="148233"/>
          </a:xfrm>
          <a:prstGeom prst="rect">
            <a:avLst/>
          </a:prstGeom>
          <a:noFill/>
          <a:ln/>
        </p:spPr>
        <p:txBody>
          <a:bodyPr wrap="none" lIns="0" tIns="0" rIns="0" bIns="0" rtlCol="0" anchor="t"/>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Sensor data is processed by the IoT system.</a:t>
            </a:r>
            <a:endParaRPr lang="en-US" sz="900" dirty="0"/>
          </a:p>
        </p:txBody>
      </p:sp>
      <p:sp>
        <p:nvSpPr>
          <p:cNvPr id="18" name="Text 15"/>
          <p:cNvSpPr/>
          <p:nvPr/>
        </p:nvSpPr>
        <p:spPr>
          <a:xfrm>
            <a:off x="7915077" y="2727623"/>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03</a:t>
            </a:r>
            <a:endParaRPr lang="en-US" sz="900" dirty="0"/>
          </a:p>
        </p:txBody>
      </p:sp>
      <p:sp>
        <p:nvSpPr>
          <p:cNvPr id="19" name="Shape 16"/>
          <p:cNvSpPr/>
          <p:nvPr/>
        </p:nvSpPr>
        <p:spPr>
          <a:xfrm>
            <a:off x="7915077" y="2910681"/>
            <a:ext cx="3621394" cy="12700"/>
          </a:xfrm>
          <a:prstGeom prst="rect">
            <a:avLst/>
          </a:prstGeom>
          <a:solidFill>
            <a:srgbClr val="3E2513"/>
          </a:solidFill>
          <a:ln/>
        </p:spPr>
      </p:sp>
      <p:sp>
        <p:nvSpPr>
          <p:cNvPr id="20" name="Text 17"/>
          <p:cNvSpPr/>
          <p:nvPr/>
        </p:nvSpPr>
        <p:spPr>
          <a:xfrm>
            <a:off x="7915077" y="2993628"/>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Transmit</a:t>
            </a:r>
            <a:endParaRPr lang="en-US" sz="1100" dirty="0"/>
          </a:p>
        </p:txBody>
      </p:sp>
      <p:sp>
        <p:nvSpPr>
          <p:cNvPr id="21" name="Text 18"/>
          <p:cNvSpPr/>
          <p:nvPr/>
        </p:nvSpPr>
        <p:spPr>
          <a:xfrm>
            <a:off x="7915077" y="3243659"/>
            <a:ext cx="3621394" cy="296466"/>
          </a:xfrm>
          <a:prstGeom prst="rect">
            <a:avLst/>
          </a:prstGeom>
          <a:noFill/>
          <a:ln/>
        </p:spPr>
        <p:txBody>
          <a:bodyPr wrap="square" lIns="0" tIns="0" rIns="0" bIns="0" rtlCol="0" anchor="t">
            <a:normAutofit/>
          </a:bodyPr>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Water-level information is transmitted through IoT communication.</a:t>
            </a:r>
            <a:endParaRPr lang="en-US" sz="900" dirty="0"/>
          </a:p>
        </p:txBody>
      </p:sp>
      <p:sp>
        <p:nvSpPr>
          <p:cNvPr id="22" name="Text 19"/>
          <p:cNvSpPr/>
          <p:nvPr/>
        </p:nvSpPr>
        <p:spPr>
          <a:xfrm>
            <a:off x="7915077" y="3696593"/>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04</a:t>
            </a:r>
            <a:endParaRPr lang="en-US" sz="900" dirty="0"/>
          </a:p>
        </p:txBody>
      </p:sp>
      <p:sp>
        <p:nvSpPr>
          <p:cNvPr id="23" name="Shape 20"/>
          <p:cNvSpPr/>
          <p:nvPr/>
        </p:nvSpPr>
        <p:spPr>
          <a:xfrm>
            <a:off x="7915077" y="3879652"/>
            <a:ext cx="3621394" cy="12700"/>
          </a:xfrm>
          <a:prstGeom prst="rect">
            <a:avLst/>
          </a:prstGeom>
          <a:solidFill>
            <a:srgbClr val="3E2513"/>
          </a:solidFill>
          <a:ln/>
        </p:spPr>
      </p:sp>
      <p:sp>
        <p:nvSpPr>
          <p:cNvPr id="24" name="Text 21"/>
          <p:cNvSpPr/>
          <p:nvPr/>
        </p:nvSpPr>
        <p:spPr>
          <a:xfrm>
            <a:off x="7915077" y="3962598"/>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Compare</a:t>
            </a:r>
            <a:endParaRPr lang="en-US" sz="1100" dirty="0"/>
          </a:p>
        </p:txBody>
      </p:sp>
      <p:sp>
        <p:nvSpPr>
          <p:cNvPr id="25" name="Text 22"/>
          <p:cNvSpPr/>
          <p:nvPr/>
        </p:nvSpPr>
        <p:spPr>
          <a:xfrm>
            <a:off x="7915077" y="4212630"/>
            <a:ext cx="3621394" cy="296466"/>
          </a:xfrm>
          <a:prstGeom prst="rect">
            <a:avLst/>
          </a:prstGeom>
          <a:noFill/>
          <a:ln/>
        </p:spPr>
        <p:txBody>
          <a:bodyPr wrap="square" lIns="0" tIns="0" rIns="0" bIns="0" rtlCol="0" anchor="t">
            <a:normAutofit/>
          </a:bodyPr>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The system compares the measured level with predefined thresholds.</a:t>
            </a:r>
            <a:endParaRPr lang="en-US" sz="900" dirty="0"/>
          </a:p>
        </p:txBody>
      </p:sp>
      <p:sp>
        <p:nvSpPr>
          <p:cNvPr id="26" name="Text 23"/>
          <p:cNvSpPr/>
          <p:nvPr/>
        </p:nvSpPr>
        <p:spPr>
          <a:xfrm>
            <a:off x="7915077" y="4665563"/>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05</a:t>
            </a:r>
            <a:endParaRPr lang="en-US" sz="900" dirty="0"/>
          </a:p>
        </p:txBody>
      </p:sp>
      <p:sp>
        <p:nvSpPr>
          <p:cNvPr id="27" name="Shape 24"/>
          <p:cNvSpPr/>
          <p:nvPr/>
        </p:nvSpPr>
        <p:spPr>
          <a:xfrm>
            <a:off x="7915077" y="4848622"/>
            <a:ext cx="3621394" cy="12700"/>
          </a:xfrm>
          <a:prstGeom prst="rect">
            <a:avLst/>
          </a:prstGeom>
          <a:solidFill>
            <a:srgbClr val="3E2513"/>
          </a:solidFill>
          <a:ln/>
        </p:spPr>
      </p:sp>
      <p:sp>
        <p:nvSpPr>
          <p:cNvPr id="28" name="Text 25"/>
          <p:cNvSpPr/>
          <p:nvPr/>
        </p:nvSpPr>
        <p:spPr>
          <a:xfrm>
            <a:off x="7915077" y="4931569"/>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Control</a:t>
            </a:r>
            <a:endParaRPr lang="en-US" sz="1100" dirty="0"/>
          </a:p>
        </p:txBody>
      </p:sp>
      <p:sp>
        <p:nvSpPr>
          <p:cNvPr id="29" name="Text 26"/>
          <p:cNvSpPr/>
          <p:nvPr/>
        </p:nvSpPr>
        <p:spPr>
          <a:xfrm>
            <a:off x="7915077" y="5181600"/>
            <a:ext cx="3621394" cy="148233"/>
          </a:xfrm>
          <a:prstGeom prst="rect">
            <a:avLst/>
          </a:prstGeom>
          <a:noFill/>
          <a:ln/>
        </p:spPr>
        <p:txBody>
          <a:bodyPr wrap="none" lIns="0" tIns="0" rIns="0" bIns="0" rtlCol="0" anchor="t"/>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The pump is automatically switched ON or OFF accordingly.</a:t>
            </a:r>
            <a:endParaRPr lang="en-US" sz="900" dirty="0"/>
          </a:p>
        </p:txBody>
      </p:sp>
      <p:sp>
        <p:nvSpPr>
          <p:cNvPr id="30" name="Text 27"/>
          <p:cNvSpPr/>
          <p:nvPr/>
        </p:nvSpPr>
        <p:spPr>
          <a:xfrm>
            <a:off x="7915077" y="5486301"/>
            <a:ext cx="230281" cy="143966"/>
          </a:xfrm>
          <a:prstGeom prst="rect">
            <a:avLst/>
          </a:prstGeom>
          <a:noFill/>
          <a:ln/>
        </p:spPr>
        <p:txBody>
          <a:bodyPr wrap="none" lIns="0" tIns="0" rIns="0" bIns="0" rtlCol="0" anchor="ctr"/>
          <a:lstStyle/>
          <a:p>
            <a:pPr marL="0" indent="0" algn="l">
              <a:lnSpc>
                <a:spcPct val="100000"/>
              </a:lnSpc>
              <a:buNone/>
            </a:pPr>
            <a:r>
              <a:rPr lang="en-US" sz="900" dirty="0">
                <a:solidFill>
                  <a:srgbClr val="504C49"/>
                </a:solidFill>
                <a:latin typeface="Platypi Light" pitchFamily="34" charset="0"/>
                <a:ea typeface="Platypi Light" pitchFamily="34" charset="-122"/>
                <a:cs typeface="Platypi Light" pitchFamily="34" charset="-120"/>
              </a:rPr>
              <a:t>06</a:t>
            </a:r>
            <a:endParaRPr lang="en-US" sz="900" dirty="0"/>
          </a:p>
        </p:txBody>
      </p:sp>
      <p:sp>
        <p:nvSpPr>
          <p:cNvPr id="31" name="Shape 28"/>
          <p:cNvSpPr/>
          <p:nvPr/>
        </p:nvSpPr>
        <p:spPr>
          <a:xfrm>
            <a:off x="7915077" y="5669359"/>
            <a:ext cx="3621394" cy="12700"/>
          </a:xfrm>
          <a:prstGeom prst="rect">
            <a:avLst/>
          </a:prstGeom>
          <a:solidFill>
            <a:srgbClr val="3E2513"/>
          </a:solidFill>
          <a:ln/>
        </p:spPr>
      </p:sp>
      <p:sp>
        <p:nvSpPr>
          <p:cNvPr id="32" name="Text 29"/>
          <p:cNvSpPr/>
          <p:nvPr/>
        </p:nvSpPr>
        <p:spPr>
          <a:xfrm>
            <a:off x="7915077" y="5752306"/>
            <a:ext cx="3621394" cy="179884"/>
          </a:xfrm>
          <a:prstGeom prst="rect">
            <a:avLst/>
          </a:prstGeom>
          <a:noFill/>
          <a:ln/>
        </p:spPr>
        <p:txBody>
          <a:bodyPr wrap="none" lIns="0" tIns="0" rIns="0" bIns="0" rtlCol="0" anchor="t"/>
          <a:lstStyle/>
          <a:p>
            <a:pPr marL="0" indent="0" algn="l">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Monitor</a:t>
            </a:r>
            <a:endParaRPr lang="en-US" sz="1100" dirty="0"/>
          </a:p>
        </p:txBody>
      </p:sp>
      <p:sp>
        <p:nvSpPr>
          <p:cNvPr id="33" name="Text 30"/>
          <p:cNvSpPr/>
          <p:nvPr/>
        </p:nvSpPr>
        <p:spPr>
          <a:xfrm>
            <a:off x="7915077" y="6002338"/>
            <a:ext cx="3621394" cy="148233"/>
          </a:xfrm>
          <a:prstGeom prst="rect">
            <a:avLst/>
          </a:prstGeom>
          <a:noFill/>
          <a:ln/>
        </p:spPr>
        <p:txBody>
          <a:bodyPr wrap="none" lIns="0" tIns="0" rIns="0" bIns="0" rtlCol="0" anchor="t"/>
          <a:lstStyle/>
          <a:p>
            <a:pPr marL="0" indent="0" algn="l">
              <a:lnSpc>
                <a:spcPct val="107000"/>
              </a:lnSpc>
              <a:buNone/>
            </a:pPr>
            <a:r>
              <a:rPr lang="en-US" sz="900" dirty="0">
                <a:solidFill>
                  <a:srgbClr val="504C49"/>
                </a:solidFill>
                <a:latin typeface="Source Serif 4" pitchFamily="34" charset="0"/>
                <a:ea typeface="Source Serif 4" pitchFamily="34" charset="-122"/>
                <a:cs typeface="Source Serif 4" pitchFamily="34" charset="-120"/>
              </a:rPr>
              <a:t>Users monitor the tank remotely through the dashboard interface.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29559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01B18"/>
                </a:solidFill>
                <a:latin typeface="Platypi Medium" pitchFamily="34" charset="0"/>
                <a:ea typeface="Platypi Medium" pitchFamily="34" charset="-122"/>
                <a:cs typeface="Platypi Medium" pitchFamily="34" charset="-120"/>
              </a:rPr>
              <a:t>Real-Time Monitoring Dashboard</a:t>
            </a:r>
            <a:endParaRPr lang="en-US" sz="3700" dirty="0"/>
          </a:p>
        </p:txBody>
      </p:sp>
      <p:sp>
        <p:nvSpPr>
          <p:cNvPr id="3" name="Text 1"/>
          <p:cNvSpPr/>
          <p:nvPr/>
        </p:nvSpPr>
        <p:spPr>
          <a:xfrm>
            <a:off x="661475" y="2264271"/>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The dashboard helps users make informed water-management decisions through centralized, real-time system information.</a:t>
            </a:r>
            <a:endParaRPr lang="en-US" sz="1450" dirty="0"/>
          </a:p>
        </p:txBody>
      </p:sp>
      <p:sp>
        <p:nvSpPr>
          <p:cNvPr id="4" name="Shape 2"/>
          <p:cNvSpPr/>
          <p:nvPr/>
        </p:nvSpPr>
        <p:spPr>
          <a:xfrm>
            <a:off x="661475" y="3081734"/>
            <a:ext cx="10868745" cy="2480667"/>
          </a:xfrm>
          <a:prstGeom prst="roundRect">
            <a:avLst>
              <a:gd name="adj" fmla="val 1143"/>
            </a:avLst>
          </a:prstGeom>
          <a:solidFill>
            <a:srgbClr val="F9F7F7"/>
          </a:solidFill>
          <a:ln/>
        </p:spPr>
      </p:sp>
      <p:sp>
        <p:nvSpPr>
          <p:cNvPr id="5" name="Shape 3"/>
          <p:cNvSpPr/>
          <p:nvPr/>
        </p:nvSpPr>
        <p:spPr>
          <a:xfrm>
            <a:off x="661475" y="3081734"/>
            <a:ext cx="3622882" cy="1391543"/>
          </a:xfrm>
          <a:custGeom>
            <a:avLst/>
            <a:gdLst/>
            <a:ahLst/>
            <a:cxnLst/>
            <a:rect l="l" t="t" r="r" b="b"/>
            <a:pathLst>
              <a:path w="3622882" h="1391543">
                <a:moveTo>
                  <a:pt x="23627" y="0"/>
                </a:moveTo>
                <a:lnTo>
                  <a:pt x="3622882" y="0"/>
                </a:lnTo>
                <a:lnTo>
                  <a:pt x="3622882" y="1391543"/>
                </a:lnTo>
                <a:lnTo>
                  <a:pt x="0" y="1391543"/>
                </a:lnTo>
                <a:lnTo>
                  <a:pt x="0" y="23628"/>
                </a:lnTo>
                <a:arcTo wR="23627" hR="23628" stAng="10800000" swAng="5400000"/>
                <a:close/>
              </a:path>
            </a:pathLst>
          </a:custGeom>
          <a:solidFill>
            <a:srgbClr val="F9F7F7"/>
          </a:solidFill>
          <a:ln/>
        </p:spPr>
      </p:sp>
      <p:sp>
        <p:nvSpPr>
          <p:cNvPr id="6" name="Text 4"/>
          <p:cNvSpPr/>
          <p:nvPr/>
        </p:nvSpPr>
        <p:spPr>
          <a:xfrm>
            <a:off x="850482" y="3270746"/>
            <a:ext cx="3244868"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Water Level</a:t>
            </a:r>
            <a:endParaRPr lang="en-US" sz="1850" dirty="0"/>
          </a:p>
        </p:txBody>
      </p:sp>
      <p:sp>
        <p:nvSpPr>
          <p:cNvPr id="7" name="Text 5"/>
          <p:cNvSpPr/>
          <p:nvPr/>
        </p:nvSpPr>
        <p:spPr>
          <a:xfrm>
            <a:off x="850482" y="3679428"/>
            <a:ext cx="324486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Current tank fill status displayed in real time.</a:t>
            </a:r>
            <a:endParaRPr lang="en-US" sz="1450" dirty="0"/>
          </a:p>
        </p:txBody>
      </p:sp>
      <p:sp>
        <p:nvSpPr>
          <p:cNvPr id="8" name="Shape 6"/>
          <p:cNvSpPr/>
          <p:nvPr/>
        </p:nvSpPr>
        <p:spPr>
          <a:xfrm>
            <a:off x="4284357" y="3081734"/>
            <a:ext cx="3622882" cy="1391543"/>
          </a:xfrm>
          <a:prstGeom prst="rect">
            <a:avLst/>
          </a:prstGeom>
          <a:solidFill>
            <a:srgbClr val="F9F7F7"/>
          </a:solidFill>
          <a:ln/>
        </p:spPr>
      </p:sp>
      <p:sp>
        <p:nvSpPr>
          <p:cNvPr id="9" name="Shape 7"/>
          <p:cNvSpPr/>
          <p:nvPr/>
        </p:nvSpPr>
        <p:spPr>
          <a:xfrm>
            <a:off x="4284357" y="3081734"/>
            <a:ext cx="25399" cy="1391543"/>
          </a:xfrm>
          <a:prstGeom prst="roundRect">
            <a:avLst>
              <a:gd name="adj" fmla="val 50001"/>
            </a:avLst>
          </a:prstGeom>
          <a:solidFill>
            <a:srgbClr val="D8D4D4"/>
          </a:solidFill>
          <a:ln/>
        </p:spPr>
      </p:sp>
      <p:sp>
        <p:nvSpPr>
          <p:cNvPr id="10" name="Text 8"/>
          <p:cNvSpPr/>
          <p:nvPr/>
        </p:nvSpPr>
        <p:spPr>
          <a:xfrm>
            <a:off x="4473364" y="3270746"/>
            <a:ext cx="3244868"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Pump Status</a:t>
            </a:r>
            <a:endParaRPr lang="en-US" sz="1850" dirty="0"/>
          </a:p>
        </p:txBody>
      </p:sp>
      <p:sp>
        <p:nvSpPr>
          <p:cNvPr id="11" name="Text 9"/>
          <p:cNvSpPr/>
          <p:nvPr/>
        </p:nvSpPr>
        <p:spPr>
          <a:xfrm>
            <a:off x="4473364" y="3679428"/>
            <a:ext cx="324486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Live ON/OFF indicator for the pump.</a:t>
            </a:r>
            <a:endParaRPr lang="en-US" sz="1450" dirty="0"/>
          </a:p>
        </p:txBody>
      </p:sp>
      <p:sp>
        <p:nvSpPr>
          <p:cNvPr id="12" name="Shape 10"/>
          <p:cNvSpPr/>
          <p:nvPr/>
        </p:nvSpPr>
        <p:spPr>
          <a:xfrm>
            <a:off x="7907239" y="3081734"/>
            <a:ext cx="3622882" cy="1391543"/>
          </a:xfrm>
          <a:custGeom>
            <a:avLst/>
            <a:gdLst/>
            <a:ahLst/>
            <a:cxnLst/>
            <a:rect l="l" t="t" r="r" b="b"/>
            <a:pathLst>
              <a:path w="3622882" h="1391543">
                <a:moveTo>
                  <a:pt x="0" y="0"/>
                </a:moveTo>
                <a:lnTo>
                  <a:pt x="3599255" y="0"/>
                </a:lnTo>
                <a:arcTo wR="23627" hR="23628" stAng="16200000" swAng="5400000"/>
                <a:lnTo>
                  <a:pt x="3622882" y="1391543"/>
                </a:lnTo>
                <a:lnTo>
                  <a:pt x="0" y="1391543"/>
                </a:lnTo>
                <a:lnTo>
                  <a:pt x="0" y="0"/>
                </a:lnTo>
                <a:close/>
              </a:path>
            </a:pathLst>
          </a:custGeom>
          <a:solidFill>
            <a:srgbClr val="F9F7F7"/>
          </a:solidFill>
          <a:ln/>
        </p:spPr>
      </p:sp>
      <p:sp>
        <p:nvSpPr>
          <p:cNvPr id="13" name="Shape 11"/>
          <p:cNvSpPr/>
          <p:nvPr/>
        </p:nvSpPr>
        <p:spPr>
          <a:xfrm>
            <a:off x="7907239" y="3081734"/>
            <a:ext cx="25399" cy="1391543"/>
          </a:xfrm>
          <a:prstGeom prst="roundRect">
            <a:avLst>
              <a:gd name="adj" fmla="val 50001"/>
            </a:avLst>
          </a:prstGeom>
          <a:solidFill>
            <a:srgbClr val="D8D4D4"/>
          </a:solidFill>
          <a:ln/>
        </p:spPr>
      </p:sp>
      <p:sp>
        <p:nvSpPr>
          <p:cNvPr id="14" name="Text 12"/>
          <p:cNvSpPr/>
          <p:nvPr/>
        </p:nvSpPr>
        <p:spPr>
          <a:xfrm>
            <a:off x="8096246" y="3270746"/>
            <a:ext cx="3244868"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Usage History</a:t>
            </a:r>
            <a:endParaRPr lang="en-US" sz="1850" dirty="0"/>
          </a:p>
        </p:txBody>
      </p:sp>
      <p:sp>
        <p:nvSpPr>
          <p:cNvPr id="15" name="Text 13"/>
          <p:cNvSpPr/>
          <p:nvPr/>
        </p:nvSpPr>
        <p:spPr>
          <a:xfrm>
            <a:off x="8096246" y="3679428"/>
            <a:ext cx="324486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Historical water consumption trends and logs.</a:t>
            </a:r>
            <a:endParaRPr lang="en-US" sz="1450" dirty="0"/>
          </a:p>
        </p:txBody>
      </p:sp>
      <p:sp>
        <p:nvSpPr>
          <p:cNvPr id="16" name="Shape 14"/>
          <p:cNvSpPr/>
          <p:nvPr/>
        </p:nvSpPr>
        <p:spPr>
          <a:xfrm>
            <a:off x="661475" y="4473277"/>
            <a:ext cx="5434273" cy="1089124"/>
          </a:xfrm>
          <a:custGeom>
            <a:avLst/>
            <a:gdLst/>
            <a:ahLst/>
            <a:cxnLst/>
            <a:rect l="l" t="t" r="r" b="b"/>
            <a:pathLst>
              <a:path w="5434273" h="1089124">
                <a:moveTo>
                  <a:pt x="0" y="0"/>
                </a:moveTo>
                <a:lnTo>
                  <a:pt x="5434273" y="0"/>
                </a:lnTo>
                <a:lnTo>
                  <a:pt x="5434273" y="1089124"/>
                </a:lnTo>
                <a:lnTo>
                  <a:pt x="23627" y="1089124"/>
                </a:lnTo>
                <a:arcTo wR="23627" hR="23628" stAng="5400000" swAng="5400000"/>
                <a:lnTo>
                  <a:pt x="0" y="0"/>
                </a:lnTo>
                <a:close/>
              </a:path>
            </a:pathLst>
          </a:custGeom>
          <a:solidFill>
            <a:srgbClr val="F9F7F7"/>
          </a:solidFill>
          <a:ln/>
        </p:spPr>
      </p:sp>
      <p:sp>
        <p:nvSpPr>
          <p:cNvPr id="17" name="Shape 15"/>
          <p:cNvSpPr/>
          <p:nvPr/>
        </p:nvSpPr>
        <p:spPr>
          <a:xfrm>
            <a:off x="661475" y="4473277"/>
            <a:ext cx="5434273" cy="25400"/>
          </a:xfrm>
          <a:prstGeom prst="roundRect">
            <a:avLst>
              <a:gd name="adj" fmla="val 49999"/>
            </a:avLst>
          </a:prstGeom>
          <a:solidFill>
            <a:srgbClr val="D8D4D4"/>
          </a:solidFill>
          <a:ln/>
        </p:spPr>
      </p:sp>
      <p:sp>
        <p:nvSpPr>
          <p:cNvPr id="18" name="Text 16"/>
          <p:cNvSpPr/>
          <p:nvPr/>
        </p:nvSpPr>
        <p:spPr>
          <a:xfrm>
            <a:off x="850482" y="4662289"/>
            <a:ext cx="5056259"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Alert Notifications</a:t>
            </a:r>
            <a:endParaRPr lang="en-US" sz="1850" dirty="0"/>
          </a:p>
        </p:txBody>
      </p:sp>
      <p:sp>
        <p:nvSpPr>
          <p:cNvPr id="19" name="Text 17"/>
          <p:cNvSpPr/>
          <p:nvPr/>
        </p:nvSpPr>
        <p:spPr>
          <a:xfrm>
            <a:off x="850482" y="5070971"/>
            <a:ext cx="5056259" cy="302419"/>
          </a:xfrm>
          <a:prstGeom prst="rect">
            <a:avLst/>
          </a:prstGeom>
          <a:noFill/>
          <a:ln/>
        </p:spPr>
        <p:txBody>
          <a:bodyPr wrap="none" lIns="0" tIns="0" rIns="0" bIns="0" rtlCol="0" anchor="t"/>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Instant alerts for overflow, shortage, or faults.</a:t>
            </a:r>
            <a:endParaRPr lang="en-US" sz="1450" dirty="0"/>
          </a:p>
        </p:txBody>
      </p:sp>
      <p:sp>
        <p:nvSpPr>
          <p:cNvPr id="20" name="Shape 18"/>
          <p:cNvSpPr/>
          <p:nvPr/>
        </p:nvSpPr>
        <p:spPr>
          <a:xfrm>
            <a:off x="6095748" y="4473277"/>
            <a:ext cx="5434373" cy="1089124"/>
          </a:xfrm>
          <a:custGeom>
            <a:avLst/>
            <a:gdLst/>
            <a:ahLst/>
            <a:cxnLst/>
            <a:rect l="l" t="t" r="r" b="b"/>
            <a:pathLst>
              <a:path w="5434373" h="1089124">
                <a:moveTo>
                  <a:pt x="0" y="0"/>
                </a:moveTo>
                <a:lnTo>
                  <a:pt x="5434373" y="0"/>
                </a:lnTo>
                <a:lnTo>
                  <a:pt x="5434373" y="1065496"/>
                </a:lnTo>
                <a:arcTo wR="23627" hR="23628" stAng="0" swAng="5400000"/>
                <a:lnTo>
                  <a:pt x="0" y="1089124"/>
                </a:lnTo>
                <a:lnTo>
                  <a:pt x="0" y="0"/>
                </a:lnTo>
                <a:close/>
              </a:path>
            </a:pathLst>
          </a:custGeom>
          <a:solidFill>
            <a:srgbClr val="F9F7F7"/>
          </a:solidFill>
          <a:ln/>
        </p:spPr>
      </p:sp>
      <p:sp>
        <p:nvSpPr>
          <p:cNvPr id="21" name="Shape 19"/>
          <p:cNvSpPr/>
          <p:nvPr/>
        </p:nvSpPr>
        <p:spPr>
          <a:xfrm>
            <a:off x="6095748" y="4473277"/>
            <a:ext cx="25399" cy="1089124"/>
          </a:xfrm>
          <a:prstGeom prst="roundRect">
            <a:avLst>
              <a:gd name="adj" fmla="val 50001"/>
            </a:avLst>
          </a:prstGeom>
          <a:solidFill>
            <a:srgbClr val="D8D4D4"/>
          </a:solidFill>
          <a:ln/>
        </p:spPr>
      </p:sp>
      <p:sp>
        <p:nvSpPr>
          <p:cNvPr id="22" name="Shape 20"/>
          <p:cNvSpPr/>
          <p:nvPr/>
        </p:nvSpPr>
        <p:spPr>
          <a:xfrm>
            <a:off x="6095748" y="4473277"/>
            <a:ext cx="5434373" cy="25400"/>
          </a:xfrm>
          <a:prstGeom prst="roundRect">
            <a:avLst>
              <a:gd name="adj" fmla="val 49999"/>
            </a:avLst>
          </a:prstGeom>
          <a:solidFill>
            <a:srgbClr val="D8D4D4"/>
          </a:solidFill>
          <a:ln/>
        </p:spPr>
      </p:sp>
      <p:sp>
        <p:nvSpPr>
          <p:cNvPr id="23" name="Text 21"/>
          <p:cNvSpPr/>
          <p:nvPr/>
        </p:nvSpPr>
        <p:spPr>
          <a:xfrm>
            <a:off x="6284755" y="4662289"/>
            <a:ext cx="5056359" cy="295275"/>
          </a:xfrm>
          <a:prstGeom prst="rect">
            <a:avLst/>
          </a:prstGeom>
          <a:noFill/>
          <a:ln/>
        </p:spPr>
        <p:txBody>
          <a:bodyPr wrap="none" lIns="0" tIns="0" rIns="0" bIns="0" rtlCol="0" anchor="t"/>
          <a:lstStyle/>
          <a:p>
            <a:pPr marL="0" indent="0" algn="l">
              <a:lnSpc>
                <a:spcPct val="104000"/>
              </a:lnSpc>
              <a:buNone/>
            </a:pPr>
            <a:r>
              <a:rPr lang="en-US" sz="1850" dirty="0">
                <a:solidFill>
                  <a:srgbClr val="504C49"/>
                </a:solidFill>
                <a:latin typeface="Platypi Medium" pitchFamily="34" charset="0"/>
                <a:ea typeface="Platypi Medium" pitchFamily="34" charset="-122"/>
                <a:cs typeface="Platypi Medium" pitchFamily="34" charset="-120"/>
              </a:rPr>
              <a:t>System Performance</a:t>
            </a:r>
            <a:endParaRPr lang="en-US" sz="1850" dirty="0"/>
          </a:p>
        </p:txBody>
      </p:sp>
      <p:sp>
        <p:nvSpPr>
          <p:cNvPr id="24" name="Text 22"/>
          <p:cNvSpPr/>
          <p:nvPr/>
        </p:nvSpPr>
        <p:spPr>
          <a:xfrm>
            <a:off x="6284755" y="5070971"/>
            <a:ext cx="5056359" cy="302419"/>
          </a:xfrm>
          <a:prstGeom prst="rect">
            <a:avLst/>
          </a:prstGeom>
          <a:noFill/>
          <a:ln/>
        </p:spPr>
        <p:txBody>
          <a:bodyPr wrap="none" lIns="0" tIns="0" rIns="0" bIns="0" rtlCol="0" anchor="t"/>
          <a:lstStyle/>
          <a:p>
            <a:pPr marL="0" indent="0" algn="l">
              <a:lnSpc>
                <a:spcPct val="133000"/>
              </a:lnSpc>
              <a:buNone/>
            </a:pPr>
            <a:r>
              <a:rPr lang="en-US" sz="1450" dirty="0">
                <a:solidFill>
                  <a:srgbClr val="504C49"/>
                </a:solidFill>
                <a:latin typeface="Source Serif 4" pitchFamily="34" charset="0"/>
                <a:ea typeface="Source Serif 4" pitchFamily="34" charset="-122"/>
                <a:cs typeface="Source Serif 4" pitchFamily="34" charset="-120"/>
              </a:rPr>
              <a:t>Operational metrics and system health indicators.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60959"/>
            <a:ext cx="5203794"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01B18"/>
                </a:solidFill>
                <a:latin typeface="Platypi Medium" pitchFamily="34" charset="0"/>
                <a:ea typeface="Platypi Medium" pitchFamily="34" charset="-122"/>
                <a:cs typeface="Platypi Medium" pitchFamily="34" charset="-120"/>
              </a:rPr>
              <a:t>Automatic Pump Control and Alerts</a:t>
            </a:r>
            <a:endParaRPr lang="en-US" sz="3700" dirty="0"/>
          </a:p>
        </p:txBody>
      </p:sp>
      <p:sp>
        <p:nvSpPr>
          <p:cNvPr id="3" name="Text 1"/>
          <p:cNvSpPr/>
          <p:nvPr/>
        </p:nvSpPr>
        <p:spPr>
          <a:xfrm>
            <a:off x="661475" y="2531269"/>
            <a:ext cx="5203794" cy="3288506"/>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dirty="0">
                <a:solidFill>
                  <a:srgbClr val="504C49"/>
                </a:solidFill>
                <a:latin typeface="Source Serif 4" pitchFamily="34" charset="0"/>
                <a:ea typeface="Source Serif 4" pitchFamily="34" charset="-122"/>
                <a:cs typeface="Source Serif 4" pitchFamily="34" charset="-120"/>
              </a:rPr>
              <a:t>The pump switches automatically according to </a:t>
            </a:r>
            <a:r>
              <a:rPr lang="en-US" sz="1450" b="1" dirty="0">
                <a:solidFill>
                  <a:srgbClr val="504C49"/>
                </a:solidFill>
                <a:latin typeface="Source Serif 4 Bold" pitchFamily="34" charset="0"/>
                <a:ea typeface="Source Serif 4 Bold" pitchFamily="34" charset="-122"/>
                <a:cs typeface="Source Serif 4 Bold" pitchFamily="34" charset="-120"/>
              </a:rPr>
              <a:t>predefined water-level thresholds</a:t>
            </a:r>
            <a:r>
              <a:rPr lang="en-US" sz="1450" dirty="0">
                <a:solidFill>
                  <a:srgbClr val="504C49"/>
                </a:solidFill>
                <a:latin typeface="Source Serif 4" pitchFamily="34" charset="0"/>
                <a:ea typeface="Source Serif 4" pitchFamily="34" charset="-122"/>
                <a:cs typeface="Source Serif 4" pitchFamily="34" charset="-120"/>
              </a:rPr>
              <a:t>.</a:t>
            </a:r>
            <a:endParaRPr lang="en-US" sz="1450" dirty="0"/>
          </a:p>
          <a:p>
            <a:pPr marL="294640" indent="-294640" algn="l">
              <a:lnSpc>
                <a:spcPct val="133000"/>
              </a:lnSpc>
              <a:buSzPct val="100000"/>
              <a:buChar char="•"/>
            </a:pPr>
            <a:r>
              <a:rPr lang="en-US" sz="1450" dirty="0">
                <a:solidFill>
                  <a:srgbClr val="504C49"/>
                </a:solidFill>
                <a:latin typeface="Source Serif 4" pitchFamily="34" charset="0"/>
                <a:ea typeface="Source Serif 4" pitchFamily="34" charset="-122"/>
                <a:cs typeface="Source Serif 4" pitchFamily="34" charset="-120"/>
              </a:rPr>
              <a:t>A </a:t>
            </a:r>
            <a:r>
              <a:rPr lang="en-US" sz="1450" b="1" dirty="0">
                <a:solidFill>
                  <a:srgbClr val="504C49"/>
                </a:solidFill>
                <a:latin typeface="Source Serif 4 Bold" pitchFamily="34" charset="0"/>
                <a:ea typeface="Source Serif 4 Bold" pitchFamily="34" charset="-122"/>
                <a:cs typeface="Source Serif 4 Bold" pitchFamily="34" charset="-120"/>
              </a:rPr>
              <a:t>high-level threshold</a:t>
            </a:r>
            <a:r>
              <a:rPr lang="en-US" sz="1450" dirty="0">
                <a:solidFill>
                  <a:srgbClr val="504C49"/>
                </a:solidFill>
                <a:latin typeface="Source Serif 4" pitchFamily="34" charset="0"/>
                <a:ea typeface="Source Serif 4" pitchFamily="34" charset="-122"/>
                <a:cs typeface="Source Serif 4" pitchFamily="34" charset="-120"/>
              </a:rPr>
              <a:t> prevents tank overflow and water wastage.</a:t>
            </a:r>
            <a:endParaRPr lang="en-US" sz="1450" dirty="0"/>
          </a:p>
          <a:p>
            <a:pPr marL="294640" indent="-294640" algn="l">
              <a:lnSpc>
                <a:spcPct val="133000"/>
              </a:lnSpc>
              <a:buSzPct val="100000"/>
              <a:buChar char="•"/>
            </a:pPr>
            <a:r>
              <a:rPr lang="en-US" sz="1450" b="1" dirty="0">
                <a:solidFill>
                  <a:srgbClr val="504C49"/>
                </a:solidFill>
                <a:latin typeface="Source Serif 4 Bold" pitchFamily="34" charset="0"/>
                <a:ea typeface="Source Serif 4 Bold" pitchFamily="34" charset="-122"/>
                <a:cs typeface="Source Serif 4 Bold" pitchFamily="34" charset="-120"/>
              </a:rPr>
              <a:t>Low-level monitoring</a:t>
            </a:r>
            <a:r>
              <a:rPr lang="en-US" sz="1450" dirty="0">
                <a:solidFill>
                  <a:srgbClr val="504C49"/>
                </a:solidFill>
                <a:latin typeface="Source Serif 4" pitchFamily="34" charset="0"/>
                <a:ea typeface="Source Serif 4" pitchFamily="34" charset="-122"/>
                <a:cs typeface="Source Serif 4" pitchFamily="34" charset="-120"/>
              </a:rPr>
              <a:t> prevents dry-tank and water-shortage conditions.</a:t>
            </a:r>
            <a:endParaRPr lang="en-US" sz="1450" dirty="0"/>
          </a:p>
          <a:p>
            <a:pPr marL="294640" indent="-294640" algn="l">
              <a:lnSpc>
                <a:spcPct val="133000"/>
              </a:lnSpc>
              <a:buSzPct val="100000"/>
              <a:buChar char="•"/>
            </a:pPr>
            <a:r>
              <a:rPr lang="en-US" sz="1450" b="1" dirty="0">
                <a:solidFill>
                  <a:srgbClr val="504C49"/>
                </a:solidFill>
                <a:latin typeface="Source Serif 4 Bold" pitchFamily="34" charset="0"/>
                <a:ea typeface="Source Serif 4 Bold" pitchFamily="34" charset="-122"/>
                <a:cs typeface="Source Serif 4 Bold" pitchFamily="34" charset="-120"/>
              </a:rPr>
              <a:t>Alert notifications</a:t>
            </a:r>
            <a:r>
              <a:rPr lang="en-US" sz="1450" dirty="0">
                <a:solidFill>
                  <a:srgbClr val="504C49"/>
                </a:solidFill>
                <a:latin typeface="Source Serif 4" pitchFamily="34" charset="0"/>
                <a:ea typeface="Source Serif 4" pitchFamily="34" charset="-122"/>
                <a:cs typeface="Source Serif 4" pitchFamily="34" charset="-120"/>
              </a:rPr>
              <a:t> inform users about critical tank and pump conditions.</a:t>
            </a:r>
            <a:endParaRPr lang="en-US" sz="1450" dirty="0"/>
          </a:p>
          <a:p>
            <a:pPr marL="294640" indent="-294640" algn="l">
              <a:lnSpc>
                <a:spcPct val="133000"/>
              </a:lnSpc>
              <a:buSzPct val="100000"/>
              <a:buChar char="•"/>
            </a:pPr>
            <a:r>
              <a:rPr lang="en-US" sz="1450" dirty="0">
                <a:solidFill>
                  <a:srgbClr val="504C49"/>
                </a:solidFill>
                <a:latin typeface="Source Serif 4" pitchFamily="34" charset="0"/>
                <a:ea typeface="Source Serif 4" pitchFamily="34" charset="-122"/>
                <a:cs typeface="Source Serif 4" pitchFamily="34" charset="-120"/>
              </a:rPr>
              <a:t>Automation </a:t>
            </a:r>
            <a:r>
              <a:rPr lang="en-US" sz="1450" b="1" dirty="0">
                <a:solidFill>
                  <a:srgbClr val="504C49"/>
                </a:solidFill>
                <a:latin typeface="Source Serif 4 Bold" pitchFamily="34" charset="0"/>
                <a:ea typeface="Source Serif 4 Bold" pitchFamily="34" charset="-122"/>
                <a:cs typeface="Source Serif 4 Bold" pitchFamily="34" charset="-120"/>
              </a:rPr>
              <a:t>reduces the need for continuous manual supervision</a:t>
            </a:r>
            <a:r>
              <a:rPr lang="en-US" sz="1450" dirty="0">
                <a:solidFill>
                  <a:srgbClr val="504C49"/>
                </a:solidFill>
                <a:latin typeface="Source Serif 4" pitchFamily="34" charset="0"/>
                <a:ea typeface="Source Serif 4" pitchFamily="34" charset="-122"/>
                <a:cs typeface="Source Serif 4" pitchFamily="34" charset="-120"/>
              </a:rPr>
              <a:t>.</a:t>
            </a:r>
            <a:endParaRPr lang="en-US" sz="1450" dirty="0"/>
          </a:p>
        </p:txBody>
      </p:sp>
      <p:pic>
        <p:nvPicPr>
          <p:cNvPr id="4" name="Image 0" descr="preencoded.png"/>
          <p:cNvPicPr>
            <a:picLocks noChangeAspect="1"/>
          </p:cNvPicPr>
          <p:nvPr/>
        </p:nvPicPr>
        <p:blipFill>
          <a:blip r:embed="rId3"/>
          <a:stretch>
            <a:fillRect/>
          </a:stretch>
        </p:blipFill>
        <p:spPr>
          <a:xfrm>
            <a:off x="6332776" y="826988"/>
            <a:ext cx="5203794" cy="52039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94941"/>
            <a:ext cx="10868745" cy="479921"/>
          </a:xfrm>
          <a:prstGeom prst="rect">
            <a:avLst/>
          </a:prstGeom>
          <a:noFill/>
          <a:ln/>
        </p:spPr>
        <p:txBody>
          <a:bodyPr wrap="none" lIns="0" tIns="0" rIns="0" bIns="0" rtlCol="0" anchor="t"/>
          <a:lstStyle/>
          <a:p>
            <a:pPr marL="0" indent="0" algn="l">
              <a:lnSpc>
                <a:spcPct val="104000"/>
              </a:lnSpc>
              <a:buNone/>
            </a:pPr>
            <a:r>
              <a:rPr lang="en-US" sz="3000" dirty="0">
                <a:solidFill>
                  <a:srgbClr val="201B18"/>
                </a:solidFill>
                <a:latin typeface="Platypi Medium" pitchFamily="34" charset="0"/>
                <a:ea typeface="Platypi Medium" pitchFamily="34" charset="-122"/>
                <a:cs typeface="Platypi Medium" pitchFamily="34" charset="-120"/>
              </a:rPr>
              <a:t>Key Benefits</a:t>
            </a:r>
            <a:endParaRPr lang="en-US" sz="3000" dirty="0"/>
          </a:p>
        </p:txBody>
      </p:sp>
      <p:sp>
        <p:nvSpPr>
          <p:cNvPr id="3" name="Shape 1"/>
          <p:cNvSpPr/>
          <p:nvPr/>
        </p:nvSpPr>
        <p:spPr>
          <a:xfrm>
            <a:off x="661475" y="1524397"/>
            <a:ext cx="5371966" cy="1429742"/>
          </a:xfrm>
          <a:prstGeom prst="roundRect">
            <a:avLst>
              <a:gd name="adj" fmla="val 1611"/>
            </a:avLst>
          </a:prstGeom>
          <a:solidFill>
            <a:srgbClr val="F9F7F7"/>
          </a:solidFill>
          <a:ln/>
        </p:spPr>
      </p:sp>
      <p:sp>
        <p:nvSpPr>
          <p:cNvPr id="4" name="Shape 2"/>
          <p:cNvSpPr/>
          <p:nvPr/>
        </p:nvSpPr>
        <p:spPr>
          <a:xfrm>
            <a:off x="814962" y="1677888"/>
            <a:ext cx="460661" cy="460673"/>
          </a:xfrm>
          <a:prstGeom prst="ellipse">
            <a:avLst/>
          </a:prstGeom>
          <a:solidFill>
            <a:srgbClr val="3E2513"/>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662" y="1804491"/>
            <a:ext cx="207263" cy="207268"/>
          </a:xfrm>
          <a:prstGeom prst="rect">
            <a:avLst/>
          </a:prstGeom>
        </p:spPr>
      </p:pic>
      <p:sp>
        <p:nvSpPr>
          <p:cNvPr id="6" name="Text 3"/>
          <p:cNvSpPr/>
          <p:nvPr/>
        </p:nvSpPr>
        <p:spPr>
          <a:xfrm>
            <a:off x="814962" y="2263279"/>
            <a:ext cx="50649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Reduces Water Wastage</a:t>
            </a:r>
            <a:endParaRPr lang="en-US" sz="1500" dirty="0"/>
          </a:p>
        </p:txBody>
      </p:sp>
      <p:sp>
        <p:nvSpPr>
          <p:cNvPr id="7" name="Text 4"/>
          <p:cNvSpPr/>
          <p:nvPr/>
        </p:nvSpPr>
        <p:spPr>
          <a:xfrm>
            <a:off x="814962" y="2578001"/>
            <a:ext cx="50649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Prevents overflow and unnecessary water loss.</a:t>
            </a:r>
            <a:endParaRPr lang="en-US" sz="1200" dirty="0"/>
          </a:p>
        </p:txBody>
      </p:sp>
      <p:sp>
        <p:nvSpPr>
          <p:cNvPr id="8" name="Shape 5"/>
          <p:cNvSpPr/>
          <p:nvPr/>
        </p:nvSpPr>
        <p:spPr>
          <a:xfrm>
            <a:off x="6158155" y="1524397"/>
            <a:ext cx="5372065" cy="1429742"/>
          </a:xfrm>
          <a:prstGeom prst="roundRect">
            <a:avLst>
              <a:gd name="adj" fmla="val 1611"/>
            </a:avLst>
          </a:prstGeom>
          <a:solidFill>
            <a:srgbClr val="F9F7F7"/>
          </a:solidFill>
          <a:ln/>
        </p:spPr>
      </p:sp>
      <p:sp>
        <p:nvSpPr>
          <p:cNvPr id="9" name="Shape 6"/>
          <p:cNvSpPr/>
          <p:nvPr/>
        </p:nvSpPr>
        <p:spPr>
          <a:xfrm>
            <a:off x="6311643" y="1677888"/>
            <a:ext cx="460661" cy="460673"/>
          </a:xfrm>
          <a:prstGeom prst="ellipse">
            <a:avLst/>
          </a:prstGeom>
          <a:solidFill>
            <a:srgbClr val="3E2513"/>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8342" y="1804491"/>
            <a:ext cx="207263" cy="207268"/>
          </a:xfrm>
          <a:prstGeom prst="rect">
            <a:avLst/>
          </a:prstGeom>
        </p:spPr>
      </p:pic>
      <p:sp>
        <p:nvSpPr>
          <p:cNvPr id="11" name="Text 7"/>
          <p:cNvSpPr/>
          <p:nvPr/>
        </p:nvSpPr>
        <p:spPr>
          <a:xfrm>
            <a:off x="6311643" y="2263279"/>
            <a:ext cx="50650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Improves Energy Efficiency</a:t>
            </a:r>
            <a:endParaRPr lang="en-US" sz="1500" dirty="0"/>
          </a:p>
        </p:txBody>
      </p:sp>
      <p:sp>
        <p:nvSpPr>
          <p:cNvPr id="12" name="Text 8"/>
          <p:cNvSpPr/>
          <p:nvPr/>
        </p:nvSpPr>
        <p:spPr>
          <a:xfrm>
            <a:off x="6311643" y="2578001"/>
            <a:ext cx="50650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Eliminates unnecessary pump operation and lowers electricity costs.</a:t>
            </a:r>
            <a:endParaRPr lang="en-US" sz="1200" dirty="0"/>
          </a:p>
        </p:txBody>
      </p:sp>
      <p:sp>
        <p:nvSpPr>
          <p:cNvPr id="13" name="Shape 9"/>
          <p:cNvSpPr/>
          <p:nvPr/>
        </p:nvSpPr>
        <p:spPr>
          <a:xfrm>
            <a:off x="661475" y="3078857"/>
            <a:ext cx="5371966" cy="1429742"/>
          </a:xfrm>
          <a:prstGeom prst="roundRect">
            <a:avLst>
              <a:gd name="adj" fmla="val 1611"/>
            </a:avLst>
          </a:prstGeom>
          <a:solidFill>
            <a:srgbClr val="F9F7F7"/>
          </a:solidFill>
          <a:ln/>
        </p:spPr>
      </p:sp>
      <p:sp>
        <p:nvSpPr>
          <p:cNvPr id="14" name="Shape 10"/>
          <p:cNvSpPr/>
          <p:nvPr/>
        </p:nvSpPr>
        <p:spPr>
          <a:xfrm>
            <a:off x="814962" y="3232348"/>
            <a:ext cx="460661" cy="460673"/>
          </a:xfrm>
          <a:prstGeom prst="ellipse">
            <a:avLst/>
          </a:prstGeom>
          <a:solidFill>
            <a:srgbClr val="3E2513"/>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1662" y="3358952"/>
            <a:ext cx="207263" cy="207268"/>
          </a:xfrm>
          <a:prstGeom prst="rect">
            <a:avLst/>
          </a:prstGeom>
        </p:spPr>
      </p:pic>
      <p:sp>
        <p:nvSpPr>
          <p:cNvPr id="16" name="Text 11"/>
          <p:cNvSpPr/>
          <p:nvPr/>
        </p:nvSpPr>
        <p:spPr>
          <a:xfrm>
            <a:off x="814962" y="3817739"/>
            <a:ext cx="50649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Continuous Water Availability</a:t>
            </a:r>
            <a:endParaRPr lang="en-US" sz="1500" dirty="0"/>
          </a:p>
        </p:txBody>
      </p:sp>
      <p:sp>
        <p:nvSpPr>
          <p:cNvPr id="17" name="Text 12"/>
          <p:cNvSpPr/>
          <p:nvPr/>
        </p:nvSpPr>
        <p:spPr>
          <a:xfrm>
            <a:off x="814962" y="4132461"/>
            <a:ext cx="50649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Ensures water is always available by preventing dry-tank conditions.</a:t>
            </a:r>
            <a:endParaRPr lang="en-US" sz="1200" dirty="0"/>
          </a:p>
        </p:txBody>
      </p:sp>
      <p:sp>
        <p:nvSpPr>
          <p:cNvPr id="18" name="Shape 13"/>
          <p:cNvSpPr/>
          <p:nvPr/>
        </p:nvSpPr>
        <p:spPr>
          <a:xfrm>
            <a:off x="6158155" y="3078857"/>
            <a:ext cx="5372065" cy="1429742"/>
          </a:xfrm>
          <a:prstGeom prst="roundRect">
            <a:avLst>
              <a:gd name="adj" fmla="val 1611"/>
            </a:avLst>
          </a:prstGeom>
          <a:solidFill>
            <a:srgbClr val="F9F7F7"/>
          </a:solidFill>
          <a:ln/>
        </p:spPr>
      </p:sp>
      <p:sp>
        <p:nvSpPr>
          <p:cNvPr id="19" name="Shape 14"/>
          <p:cNvSpPr/>
          <p:nvPr/>
        </p:nvSpPr>
        <p:spPr>
          <a:xfrm>
            <a:off x="6311643" y="3232348"/>
            <a:ext cx="460661" cy="460673"/>
          </a:xfrm>
          <a:prstGeom prst="ellipse">
            <a:avLst/>
          </a:prstGeom>
          <a:solidFill>
            <a:srgbClr val="3E2513"/>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38342" y="3358952"/>
            <a:ext cx="207263" cy="207268"/>
          </a:xfrm>
          <a:prstGeom prst="rect">
            <a:avLst/>
          </a:prstGeom>
        </p:spPr>
      </p:pic>
      <p:sp>
        <p:nvSpPr>
          <p:cNvPr id="21" name="Text 15"/>
          <p:cNvSpPr/>
          <p:nvPr/>
        </p:nvSpPr>
        <p:spPr>
          <a:xfrm>
            <a:off x="6311643" y="3817739"/>
            <a:ext cx="50650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Reduces Manual Effort</a:t>
            </a:r>
            <a:endParaRPr lang="en-US" sz="1500" dirty="0"/>
          </a:p>
        </p:txBody>
      </p:sp>
      <p:sp>
        <p:nvSpPr>
          <p:cNvPr id="22" name="Text 16"/>
          <p:cNvSpPr/>
          <p:nvPr/>
        </p:nvSpPr>
        <p:spPr>
          <a:xfrm>
            <a:off x="6311643" y="4132461"/>
            <a:ext cx="50650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Automation removes the need for constant human monitoring.</a:t>
            </a:r>
            <a:endParaRPr lang="en-US" sz="1200" dirty="0"/>
          </a:p>
        </p:txBody>
      </p:sp>
      <p:sp>
        <p:nvSpPr>
          <p:cNvPr id="23" name="Shape 17"/>
          <p:cNvSpPr/>
          <p:nvPr/>
        </p:nvSpPr>
        <p:spPr>
          <a:xfrm>
            <a:off x="661475" y="4633317"/>
            <a:ext cx="5371966" cy="1429742"/>
          </a:xfrm>
          <a:prstGeom prst="roundRect">
            <a:avLst>
              <a:gd name="adj" fmla="val 1611"/>
            </a:avLst>
          </a:prstGeom>
          <a:solidFill>
            <a:srgbClr val="F9F7F7"/>
          </a:solidFill>
          <a:ln/>
        </p:spPr>
      </p:sp>
      <p:sp>
        <p:nvSpPr>
          <p:cNvPr id="24" name="Shape 18"/>
          <p:cNvSpPr/>
          <p:nvPr/>
        </p:nvSpPr>
        <p:spPr>
          <a:xfrm>
            <a:off x="814962" y="4786809"/>
            <a:ext cx="460661" cy="460673"/>
          </a:xfrm>
          <a:prstGeom prst="ellipse">
            <a:avLst/>
          </a:prstGeom>
          <a:solidFill>
            <a:srgbClr val="3E2513"/>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662" y="4913412"/>
            <a:ext cx="207263" cy="207268"/>
          </a:xfrm>
          <a:prstGeom prst="rect">
            <a:avLst/>
          </a:prstGeom>
        </p:spPr>
      </p:pic>
      <p:sp>
        <p:nvSpPr>
          <p:cNvPr id="26" name="Text 19"/>
          <p:cNvSpPr/>
          <p:nvPr/>
        </p:nvSpPr>
        <p:spPr>
          <a:xfrm>
            <a:off x="814962" y="5372199"/>
            <a:ext cx="50649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Real-Time Monitoring</a:t>
            </a:r>
            <a:endParaRPr lang="en-US" sz="1500" dirty="0"/>
          </a:p>
        </p:txBody>
      </p:sp>
      <p:sp>
        <p:nvSpPr>
          <p:cNvPr id="27" name="Text 20"/>
          <p:cNvSpPr/>
          <p:nvPr/>
        </p:nvSpPr>
        <p:spPr>
          <a:xfrm>
            <a:off x="814962" y="5686921"/>
            <a:ext cx="50649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Centralized dashboard provides instant visibility into system status.</a:t>
            </a:r>
            <a:endParaRPr lang="en-US" sz="1200" dirty="0"/>
          </a:p>
        </p:txBody>
      </p:sp>
      <p:sp>
        <p:nvSpPr>
          <p:cNvPr id="28" name="Shape 21"/>
          <p:cNvSpPr/>
          <p:nvPr/>
        </p:nvSpPr>
        <p:spPr>
          <a:xfrm>
            <a:off x="6158155" y="4633317"/>
            <a:ext cx="5372065" cy="1429742"/>
          </a:xfrm>
          <a:prstGeom prst="roundRect">
            <a:avLst>
              <a:gd name="adj" fmla="val 1611"/>
            </a:avLst>
          </a:prstGeom>
          <a:solidFill>
            <a:srgbClr val="F9F7F7"/>
          </a:solidFill>
          <a:ln/>
        </p:spPr>
      </p:sp>
      <p:sp>
        <p:nvSpPr>
          <p:cNvPr id="29" name="Shape 22"/>
          <p:cNvSpPr/>
          <p:nvPr/>
        </p:nvSpPr>
        <p:spPr>
          <a:xfrm>
            <a:off x="6311643" y="4786809"/>
            <a:ext cx="460661" cy="460673"/>
          </a:xfrm>
          <a:prstGeom prst="ellipse">
            <a:avLst/>
          </a:prstGeom>
          <a:solidFill>
            <a:srgbClr val="3E2513"/>
          </a:solidFill>
          <a:ln/>
        </p:spPr>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38342" y="4913412"/>
            <a:ext cx="207263" cy="207268"/>
          </a:xfrm>
          <a:prstGeom prst="rect">
            <a:avLst/>
          </a:prstGeom>
        </p:spPr>
      </p:pic>
      <p:sp>
        <p:nvSpPr>
          <p:cNvPr id="31" name="Text 23"/>
          <p:cNvSpPr/>
          <p:nvPr/>
        </p:nvSpPr>
        <p:spPr>
          <a:xfrm>
            <a:off x="6311643" y="5372199"/>
            <a:ext cx="5065090" cy="239911"/>
          </a:xfrm>
          <a:prstGeom prst="rect">
            <a:avLst/>
          </a:prstGeom>
          <a:noFill/>
          <a:ln/>
        </p:spPr>
        <p:txBody>
          <a:bodyPr wrap="none" lIns="0" tIns="0" rIns="0" bIns="0" rtlCol="0" anchor="t"/>
          <a:lstStyle/>
          <a:p>
            <a:pPr marL="0" indent="0" algn="l">
              <a:lnSpc>
                <a:spcPct val="104000"/>
              </a:lnSpc>
              <a:buNone/>
            </a:pPr>
            <a:r>
              <a:rPr lang="en-US" sz="1500" dirty="0">
                <a:solidFill>
                  <a:srgbClr val="504C49"/>
                </a:solidFill>
                <a:latin typeface="Platypi Medium" pitchFamily="34" charset="0"/>
                <a:ea typeface="Platypi Medium" pitchFamily="34" charset="-122"/>
                <a:cs typeface="Platypi Medium" pitchFamily="34" charset="-120"/>
              </a:rPr>
              <a:t>Intelligent Resource Management</a:t>
            </a:r>
            <a:endParaRPr lang="en-US" sz="1500" dirty="0"/>
          </a:p>
        </p:txBody>
      </p:sp>
      <p:sp>
        <p:nvSpPr>
          <p:cNvPr id="32" name="Text 24"/>
          <p:cNvSpPr/>
          <p:nvPr/>
        </p:nvSpPr>
        <p:spPr>
          <a:xfrm>
            <a:off x="6311643" y="5686921"/>
            <a:ext cx="5065090" cy="222647"/>
          </a:xfrm>
          <a:prstGeom prst="rect">
            <a:avLst/>
          </a:prstGeom>
          <a:noFill/>
          <a:ln/>
        </p:spPr>
        <p:txBody>
          <a:bodyPr wrap="none" lIns="0" tIns="0" rIns="0" bIns="0" rtlCol="0" anchor="t"/>
          <a:lstStyle/>
          <a:p>
            <a:pPr marL="0" indent="0" algn="l">
              <a:lnSpc>
                <a:spcPct val="121000"/>
              </a:lnSpc>
              <a:buNone/>
            </a:pPr>
            <a:r>
              <a:rPr lang="en-US" sz="1200" dirty="0">
                <a:solidFill>
                  <a:srgbClr val="504C49"/>
                </a:solidFill>
                <a:latin typeface="Source Serif 4" pitchFamily="34" charset="0"/>
                <a:ea typeface="Source Serif 4" pitchFamily="34" charset="-122"/>
                <a:cs typeface="Source Serif 4" pitchFamily="34" charset="-120"/>
              </a:rPr>
              <a:t>Supports efficient, data-driven water-resource decision-making.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24768"/>
            <a:ext cx="10868745" cy="304602"/>
          </a:xfrm>
          <a:prstGeom prst="rect">
            <a:avLst/>
          </a:prstGeom>
          <a:noFill/>
          <a:ln/>
        </p:spPr>
        <p:txBody>
          <a:bodyPr wrap="none" lIns="0" tIns="0" rIns="0" bIns="0" rtlCol="0" anchor="t"/>
          <a:lstStyle/>
          <a:p>
            <a:pPr marL="0" indent="0" algn="l">
              <a:lnSpc>
                <a:spcPct val="104000"/>
              </a:lnSpc>
              <a:buNone/>
            </a:pPr>
            <a:r>
              <a:rPr lang="en-US" sz="1900" dirty="0">
                <a:solidFill>
                  <a:srgbClr val="201B18"/>
                </a:solidFill>
                <a:latin typeface="Platypi Medium" pitchFamily="34" charset="0"/>
                <a:ea typeface="Platypi Medium" pitchFamily="34" charset="-122"/>
                <a:cs typeface="Platypi Medium" pitchFamily="34" charset="-120"/>
              </a:rPr>
              <a:t>Applications and Scalability</a:t>
            </a:r>
            <a:endParaRPr lang="en-US" sz="1900" dirty="0"/>
          </a:p>
        </p:txBody>
      </p:sp>
      <p:pic>
        <p:nvPicPr>
          <p:cNvPr id="3" name="Image 0" descr="preencoded.png"/>
          <p:cNvPicPr>
            <a:picLocks noChangeAspect="1"/>
          </p:cNvPicPr>
          <p:nvPr/>
        </p:nvPicPr>
        <p:blipFill>
          <a:blip r:embed="rId3"/>
          <a:stretch>
            <a:fillRect/>
          </a:stretch>
        </p:blipFill>
        <p:spPr>
          <a:xfrm>
            <a:off x="661475" y="961132"/>
            <a:ext cx="5315512" cy="5315645"/>
          </a:xfrm>
          <a:prstGeom prst="rect">
            <a:avLst/>
          </a:prstGeom>
        </p:spPr>
      </p:pic>
      <p:sp>
        <p:nvSpPr>
          <p:cNvPr id="4" name="Text 1"/>
          <p:cNvSpPr/>
          <p:nvPr/>
        </p:nvSpPr>
        <p:spPr>
          <a:xfrm>
            <a:off x="6221058" y="2963466"/>
            <a:ext cx="5315512" cy="152301"/>
          </a:xfrm>
          <a:prstGeom prst="rect">
            <a:avLst/>
          </a:prstGeom>
          <a:noFill/>
          <a:ln/>
        </p:spPr>
        <p:txBody>
          <a:bodyPr wrap="none" lIns="0" tIns="0" rIns="0" bIns="0" rtlCol="0" anchor="t"/>
          <a:lstStyle/>
          <a:p>
            <a:pPr marL="0" indent="0" algn="l">
              <a:lnSpc>
                <a:spcPct val="104000"/>
              </a:lnSpc>
              <a:buNone/>
            </a:pPr>
            <a:r>
              <a:rPr lang="en-US" sz="950" dirty="0">
                <a:solidFill>
                  <a:srgbClr val="201B18"/>
                </a:solidFill>
                <a:latin typeface="Platypi Medium" pitchFamily="34" charset="0"/>
                <a:ea typeface="Platypi Medium" pitchFamily="34" charset="-122"/>
                <a:cs typeface="Platypi Medium" pitchFamily="34" charset="-120"/>
              </a:rPr>
              <a:t>Designed for Every Facility</a:t>
            </a:r>
            <a:endParaRPr lang="en-US" sz="950" dirty="0"/>
          </a:p>
        </p:txBody>
      </p:sp>
      <p:sp>
        <p:nvSpPr>
          <p:cNvPr id="5" name="Text 2"/>
          <p:cNvSpPr/>
          <p:nvPr/>
        </p:nvSpPr>
        <p:spPr>
          <a:xfrm>
            <a:off x="6221058" y="3165971"/>
            <a:ext cx="5315512" cy="236141"/>
          </a:xfrm>
          <a:prstGeom prst="rect">
            <a:avLst/>
          </a:prstGeom>
          <a:noFill/>
          <a:ln/>
        </p:spPr>
        <p:txBody>
          <a:bodyPr wrap="square" lIns="0" tIns="0" rIns="0" bIns="0" rtlCol="0" anchor="t">
            <a:normAutofit/>
          </a:bodyPr>
          <a:lstStyle/>
          <a:p>
            <a:pPr marL="0" indent="0" algn="l">
              <a:lnSpc>
                <a:spcPct val="101000"/>
              </a:lnSpc>
              <a:buNone/>
            </a:pPr>
            <a:r>
              <a:rPr lang="en-US" sz="750" dirty="0">
                <a:solidFill>
                  <a:srgbClr val="504C49"/>
                </a:solidFill>
                <a:latin typeface="Source Serif 4" pitchFamily="34" charset="0"/>
                <a:ea typeface="Source Serif 4" pitchFamily="34" charset="-122"/>
                <a:cs typeface="Source Serif 4" pitchFamily="34" charset="-120"/>
              </a:rPr>
              <a:t>The system is engineered to be </a:t>
            </a:r>
            <a:r>
              <a:rPr lang="en-US" sz="750" b="1" dirty="0">
                <a:solidFill>
                  <a:srgbClr val="504C49"/>
                </a:solidFill>
                <a:latin typeface="Source Serif 4 Bold" pitchFamily="34" charset="0"/>
                <a:ea typeface="Source Serif 4 Bold" pitchFamily="34" charset="-122"/>
                <a:cs typeface="Source Serif 4 Bold" pitchFamily="34" charset="-120"/>
              </a:rPr>
              <a:t>secure and scalable</a:t>
            </a:r>
            <a:r>
              <a:rPr lang="en-US" sz="750" dirty="0">
                <a:solidFill>
                  <a:srgbClr val="504C49"/>
                </a:solidFill>
                <a:latin typeface="Source Serif 4" pitchFamily="34" charset="0"/>
                <a:ea typeface="Source Serif 4" pitchFamily="34" charset="-122"/>
                <a:cs typeface="Source Serif 4" pitchFamily="34" charset="-120"/>
              </a:rPr>
              <a:t>, adapting to the unique water-management demands of diverse facility types and sizes.</a:t>
            </a:r>
            <a:endParaRPr lang="en-US" sz="750" dirty="0"/>
          </a:p>
        </p:txBody>
      </p:sp>
      <p:sp>
        <p:nvSpPr>
          <p:cNvPr id="6" name="Text 3"/>
          <p:cNvSpPr/>
          <p:nvPr/>
        </p:nvSpPr>
        <p:spPr>
          <a:xfrm>
            <a:off x="6221058" y="3447256"/>
            <a:ext cx="5315512" cy="389334"/>
          </a:xfrm>
          <a:prstGeom prst="rect">
            <a:avLst/>
          </a:prstGeom>
          <a:noFill/>
          <a:ln/>
        </p:spPr>
        <p:txBody>
          <a:bodyPr wrap="square" lIns="0" tIns="38985" rIns="0" bIns="0" rtlCol="0" anchor="t">
            <a:normAutofit/>
          </a:bodyPr>
          <a:lstStyle/>
          <a:p>
            <a:pPr marL="152400" indent="-152400" algn="l">
              <a:lnSpc>
                <a:spcPct val="101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Residential homes</a:t>
            </a:r>
            <a:r>
              <a:rPr lang="en-US" sz="750" dirty="0">
                <a:solidFill>
                  <a:srgbClr val="504C49"/>
                </a:solidFill>
                <a:latin typeface="Source Serif 4" pitchFamily="34" charset="0"/>
                <a:ea typeface="Source Serif 4" pitchFamily="34" charset="-122"/>
                <a:cs typeface="Source Serif 4" pitchFamily="34" charset="-120"/>
              </a:rPr>
              <a:t> and apartments benefit from hands-free daily water management.</a:t>
            </a:r>
            <a:endParaRPr lang="en-US" sz="750" dirty="0"/>
          </a:p>
          <a:p>
            <a:pPr marL="152400" indent="-152400" algn="l">
              <a:lnSpc>
                <a:spcPct val="101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Industries and commercial buildings</a:t>
            </a:r>
            <a:r>
              <a:rPr lang="en-US" sz="750" dirty="0">
                <a:solidFill>
                  <a:srgbClr val="504C49"/>
                </a:solidFill>
                <a:latin typeface="Source Serif 4" pitchFamily="34" charset="0"/>
                <a:ea typeface="Source Serif 4" pitchFamily="34" charset="-122"/>
                <a:cs typeface="Source Serif 4" pitchFamily="34" charset="-120"/>
              </a:rPr>
              <a:t> gain operational efficiency and cost savings.</a:t>
            </a:r>
            <a:endParaRPr lang="en-US" sz="750" dirty="0"/>
          </a:p>
          <a:p>
            <a:pPr marL="152400" indent="-152400" algn="l">
              <a:lnSpc>
                <a:spcPct val="101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Hospitals and educational institutions</a:t>
            </a:r>
            <a:r>
              <a:rPr lang="en-US" sz="750" dirty="0">
                <a:solidFill>
                  <a:srgbClr val="504C49"/>
                </a:solidFill>
                <a:latin typeface="Source Serif 4" pitchFamily="34" charset="0"/>
                <a:ea typeface="Source Serif 4" pitchFamily="34" charset="-122"/>
                <a:cs typeface="Source Serif 4" pitchFamily="34" charset="-120"/>
              </a:rPr>
              <a:t> ensure uninterrupted water supply for critical operations.</a:t>
            </a:r>
            <a:endParaRPr lang="en-US" sz="750" dirty="0"/>
          </a:p>
        </p:txBody>
      </p:sp>
      <p:sp>
        <p:nvSpPr>
          <p:cNvPr id="7" name="Shape 4"/>
          <p:cNvSpPr/>
          <p:nvPr/>
        </p:nvSpPr>
        <p:spPr>
          <a:xfrm>
            <a:off x="6221058" y="3893046"/>
            <a:ext cx="5315512" cy="375047"/>
          </a:xfrm>
          <a:prstGeom prst="roundRect">
            <a:avLst>
              <a:gd name="adj" fmla="val 3898"/>
            </a:avLst>
          </a:prstGeom>
          <a:solidFill>
            <a:srgbClr val="F3E3D8"/>
          </a:solidFill>
          <a:ln/>
        </p:spPr>
      </p:sp>
      <p:pic>
        <p:nvPicPr>
          <p:cNvPr id="8" name="Image 1" descr="preencoded.png"/>
          <p:cNvPicPr>
            <a:picLocks noChangeAspect="1"/>
          </p:cNvPicPr>
          <p:nvPr/>
        </p:nvPicPr>
        <p:blipFill>
          <a:blip r:embed="rId4"/>
          <a:stretch>
            <a:fillRect/>
          </a:stretch>
        </p:blipFill>
        <p:spPr>
          <a:xfrm>
            <a:off x="6318489" y="3971131"/>
            <a:ext cx="121738" cy="97433"/>
          </a:xfrm>
          <a:prstGeom prst="rect">
            <a:avLst/>
          </a:prstGeom>
        </p:spPr>
      </p:pic>
      <p:sp>
        <p:nvSpPr>
          <p:cNvPr id="9" name="Text 5"/>
          <p:cNvSpPr/>
          <p:nvPr/>
        </p:nvSpPr>
        <p:spPr>
          <a:xfrm>
            <a:off x="6537658" y="3962499"/>
            <a:ext cx="4901482" cy="236141"/>
          </a:xfrm>
          <a:prstGeom prst="rect">
            <a:avLst/>
          </a:prstGeom>
          <a:noFill/>
          <a:ln/>
        </p:spPr>
        <p:txBody>
          <a:bodyPr wrap="square" lIns="0" tIns="0" rIns="0" bIns="0" rtlCol="0" anchor="t">
            <a:normAutofit/>
          </a:bodyPr>
          <a:lstStyle/>
          <a:p>
            <a:pPr marL="0" indent="0" algn="l">
              <a:lnSpc>
                <a:spcPct val="101000"/>
              </a:lnSpc>
              <a:buNone/>
            </a:pPr>
            <a:r>
              <a:rPr lang="en-US" sz="750" dirty="0">
                <a:solidFill>
                  <a:srgbClr val="000000"/>
                </a:solidFill>
                <a:latin typeface="Source Serif 4" pitchFamily="34" charset="0"/>
                <a:ea typeface="Source Serif 4" pitchFamily="34" charset="-122"/>
                <a:cs typeface="Source Serif 4" pitchFamily="34" charset="-120"/>
              </a:rPr>
              <a:t>The modular architecture allows the system to scale from a single tank to multi-tank, multi-site deployments without redesign.</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763885"/>
            <a:ext cx="6296860" cy="526058"/>
          </a:xfrm>
          <a:prstGeom prst="rect">
            <a:avLst/>
          </a:prstGeom>
          <a:noFill/>
          <a:ln/>
        </p:spPr>
        <p:txBody>
          <a:bodyPr wrap="none" lIns="0" tIns="0" rIns="0" bIns="0" rtlCol="0" anchor="t"/>
          <a:lstStyle/>
          <a:p>
            <a:pPr marL="0" indent="0" algn="l">
              <a:lnSpc>
                <a:spcPct val="104000"/>
              </a:lnSpc>
              <a:buNone/>
            </a:pPr>
            <a:r>
              <a:rPr lang="en-US" sz="3300" dirty="0">
                <a:solidFill>
                  <a:srgbClr val="201B18"/>
                </a:solidFill>
                <a:latin typeface="Platypi Medium" pitchFamily="34" charset="0"/>
                <a:ea typeface="Platypi Medium" pitchFamily="34" charset="-122"/>
                <a:cs typeface="Platypi Medium" pitchFamily="34" charset="-120"/>
              </a:rPr>
              <a:t>Conclusion and Future Impact</a:t>
            </a:r>
            <a:endParaRPr lang="en-US" sz="3300" dirty="0"/>
          </a:p>
        </p:txBody>
      </p:sp>
      <p:sp>
        <p:nvSpPr>
          <p:cNvPr id="4" name="Text 1"/>
          <p:cNvSpPr/>
          <p:nvPr/>
        </p:nvSpPr>
        <p:spPr>
          <a:xfrm>
            <a:off x="1190099" y="1572617"/>
            <a:ext cx="5768235" cy="263029"/>
          </a:xfrm>
          <a:prstGeom prst="rect">
            <a:avLst/>
          </a:prstGeom>
          <a:noFill/>
          <a:ln/>
        </p:spPr>
        <p:txBody>
          <a:bodyPr wrap="none" lIns="0" tIns="0" rIns="0" bIns="0" rtlCol="0" anchor="t"/>
          <a:lstStyle/>
          <a:p>
            <a:pPr marL="0" indent="0" algn="l">
              <a:lnSpc>
                <a:spcPct val="104000"/>
              </a:lnSpc>
              <a:buNone/>
            </a:pPr>
            <a:r>
              <a:rPr lang="en-US" sz="1650" dirty="0">
                <a:solidFill>
                  <a:srgbClr val="504C49"/>
                </a:solidFill>
                <a:latin typeface="Platypi Medium" pitchFamily="34" charset="0"/>
                <a:ea typeface="Platypi Medium" pitchFamily="34" charset="-122"/>
                <a:cs typeface="Platypi Medium" pitchFamily="34" charset="-120"/>
              </a:rPr>
              <a:t>Solves Core Water-Management Problems</a:t>
            </a:r>
            <a:endParaRPr lang="en-US" sz="1650" dirty="0"/>
          </a:p>
        </p:txBody>
      </p:sp>
      <p:sp>
        <p:nvSpPr>
          <p:cNvPr id="5" name="Text 2"/>
          <p:cNvSpPr/>
          <p:nvPr/>
        </p:nvSpPr>
        <p:spPr>
          <a:xfrm>
            <a:off x="1190099" y="1925538"/>
            <a:ext cx="576823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504C49"/>
                </a:solidFill>
                <a:latin typeface="Source Serif 4" pitchFamily="34" charset="0"/>
                <a:ea typeface="Source Serif 4" pitchFamily="34" charset="-122"/>
                <a:cs typeface="Source Serif 4" pitchFamily="34" charset="-120"/>
              </a:rPr>
              <a:t>IoT-based monitoring and automatic pump control directly address overflow, water shortage, and energy waste.</a:t>
            </a:r>
            <a:endParaRPr lang="en-US" sz="1300" dirty="0"/>
          </a:p>
        </p:txBody>
      </p:sp>
      <p:sp>
        <p:nvSpPr>
          <p:cNvPr id="6" name="Text 3"/>
          <p:cNvSpPr/>
          <p:nvPr/>
        </p:nvSpPr>
        <p:spPr>
          <a:xfrm>
            <a:off x="1190099" y="2792413"/>
            <a:ext cx="5768235" cy="263029"/>
          </a:xfrm>
          <a:prstGeom prst="rect">
            <a:avLst/>
          </a:prstGeom>
          <a:noFill/>
          <a:ln/>
        </p:spPr>
        <p:txBody>
          <a:bodyPr wrap="none" lIns="0" tIns="0" rIns="0" bIns="0" rtlCol="0" anchor="t"/>
          <a:lstStyle/>
          <a:p>
            <a:pPr marL="0" indent="0" algn="l">
              <a:lnSpc>
                <a:spcPct val="104000"/>
              </a:lnSpc>
              <a:buNone/>
            </a:pPr>
            <a:r>
              <a:rPr lang="en-US" sz="1650" dirty="0">
                <a:solidFill>
                  <a:srgbClr val="504C49"/>
                </a:solidFill>
                <a:latin typeface="Platypi Medium" pitchFamily="34" charset="0"/>
                <a:ea typeface="Platypi Medium" pitchFamily="34" charset="-122"/>
                <a:cs typeface="Platypi Medium" pitchFamily="34" charset="-120"/>
              </a:rPr>
              <a:t>Automation Drives Efficiency</a:t>
            </a:r>
            <a:endParaRPr lang="en-US" sz="1650" dirty="0"/>
          </a:p>
        </p:txBody>
      </p:sp>
      <p:sp>
        <p:nvSpPr>
          <p:cNvPr id="7" name="Text 4"/>
          <p:cNvSpPr/>
          <p:nvPr/>
        </p:nvSpPr>
        <p:spPr>
          <a:xfrm>
            <a:off x="1190099" y="3145334"/>
            <a:ext cx="576823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504C49"/>
                </a:solidFill>
                <a:latin typeface="Source Serif 4" pitchFamily="34" charset="0"/>
                <a:ea typeface="Source Serif 4" pitchFamily="34" charset="-122"/>
                <a:cs typeface="Source Serif 4" pitchFamily="34" charset="-120"/>
              </a:rPr>
              <a:t>Intelligent threshold-based control improves energy efficiency and eliminates unnecessary water wastage.</a:t>
            </a:r>
            <a:endParaRPr lang="en-US" sz="1300" dirty="0"/>
          </a:p>
        </p:txBody>
      </p:sp>
      <p:sp>
        <p:nvSpPr>
          <p:cNvPr id="8" name="Text 5"/>
          <p:cNvSpPr/>
          <p:nvPr/>
        </p:nvSpPr>
        <p:spPr>
          <a:xfrm>
            <a:off x="1190099" y="4012208"/>
            <a:ext cx="5768235" cy="263029"/>
          </a:xfrm>
          <a:prstGeom prst="rect">
            <a:avLst/>
          </a:prstGeom>
          <a:noFill/>
          <a:ln/>
        </p:spPr>
        <p:txBody>
          <a:bodyPr wrap="none" lIns="0" tIns="0" rIns="0" bIns="0" rtlCol="0" anchor="t"/>
          <a:lstStyle/>
          <a:p>
            <a:pPr marL="0" indent="0" algn="l">
              <a:lnSpc>
                <a:spcPct val="104000"/>
              </a:lnSpc>
              <a:buNone/>
            </a:pPr>
            <a:r>
              <a:rPr lang="en-US" sz="1650" dirty="0">
                <a:solidFill>
                  <a:srgbClr val="504C49"/>
                </a:solidFill>
                <a:latin typeface="Platypi Medium" pitchFamily="34" charset="0"/>
                <a:ea typeface="Platypi Medium" pitchFamily="34" charset="-122"/>
                <a:cs typeface="Platypi Medium" pitchFamily="34" charset="-120"/>
              </a:rPr>
              <a:t>Centralized Real-Time Oversight</a:t>
            </a:r>
            <a:endParaRPr lang="en-US" sz="1650" dirty="0"/>
          </a:p>
        </p:txBody>
      </p:sp>
      <p:sp>
        <p:nvSpPr>
          <p:cNvPr id="9" name="Text 6"/>
          <p:cNvSpPr/>
          <p:nvPr/>
        </p:nvSpPr>
        <p:spPr>
          <a:xfrm>
            <a:off x="1190099" y="4365129"/>
            <a:ext cx="576823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504C49"/>
                </a:solidFill>
                <a:latin typeface="Source Serif 4" pitchFamily="34" charset="0"/>
                <a:ea typeface="Source Serif 4" pitchFamily="34" charset="-122"/>
                <a:cs typeface="Source Serif 4" pitchFamily="34" charset="-120"/>
              </a:rPr>
              <a:t>A unified dashboard supports smart, data-driven resource management from anywhere.</a:t>
            </a:r>
            <a:endParaRPr lang="en-US" sz="1300" dirty="0"/>
          </a:p>
        </p:txBody>
      </p:sp>
      <p:sp>
        <p:nvSpPr>
          <p:cNvPr id="10" name="Text 7"/>
          <p:cNvSpPr/>
          <p:nvPr/>
        </p:nvSpPr>
        <p:spPr>
          <a:xfrm>
            <a:off x="1190099" y="5232003"/>
            <a:ext cx="5768235" cy="263029"/>
          </a:xfrm>
          <a:prstGeom prst="rect">
            <a:avLst/>
          </a:prstGeom>
          <a:noFill/>
          <a:ln/>
        </p:spPr>
        <p:txBody>
          <a:bodyPr wrap="none" lIns="0" tIns="0" rIns="0" bIns="0" rtlCol="0" anchor="t"/>
          <a:lstStyle/>
          <a:p>
            <a:pPr marL="0" indent="0" algn="l">
              <a:lnSpc>
                <a:spcPct val="104000"/>
              </a:lnSpc>
              <a:buNone/>
            </a:pPr>
            <a:r>
              <a:rPr lang="en-US" sz="1650" dirty="0">
                <a:solidFill>
                  <a:srgbClr val="504C49"/>
                </a:solidFill>
                <a:latin typeface="Platypi Medium" pitchFamily="34" charset="0"/>
                <a:ea typeface="Platypi Medium" pitchFamily="34" charset="-122"/>
                <a:cs typeface="Platypi Medium" pitchFamily="34" charset="-120"/>
              </a:rPr>
              <a:t>Modern, Scalable, and Secure</a:t>
            </a:r>
            <a:endParaRPr lang="en-US" sz="1650" dirty="0"/>
          </a:p>
        </p:txBody>
      </p:sp>
      <p:sp>
        <p:nvSpPr>
          <p:cNvPr id="11" name="Text 8"/>
          <p:cNvSpPr/>
          <p:nvPr/>
        </p:nvSpPr>
        <p:spPr>
          <a:xfrm>
            <a:off x="1190099" y="5584924"/>
            <a:ext cx="576823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504C49"/>
                </a:solidFill>
                <a:latin typeface="Source Serif 4" pitchFamily="34" charset="0"/>
                <a:ea typeface="Source Serif 4" pitchFamily="34" charset="-122"/>
                <a:cs typeface="Source Serif 4" pitchFamily="34" charset="-120"/>
              </a:rPr>
              <a:t>The system provides a future-ready, intelligent, and scalable approach to water management for any facility.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748</Words>
  <Application>Microsoft Office PowerPoint</Application>
  <PresentationFormat>Widescreen</PresentationFormat>
  <Paragraphs>115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Source Serif 4</vt:lpstr>
      <vt:lpstr>Platypi Medium</vt:lpstr>
      <vt:lpstr>Arial</vt:lpstr>
      <vt:lpstr>Platypi Light</vt:lpstr>
      <vt:lpstr>Source Serif 4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4</cp:revision>
  <dcterms:created xsi:type="dcterms:W3CDTF">2026-08-19T06:02:47Z</dcterms:created>
  <dcterms:modified xsi:type="dcterms:W3CDTF">2026-10-04T18:13:33Z</dcterms:modified>
</cp:coreProperties>
</file>